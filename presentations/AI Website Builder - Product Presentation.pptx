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6" d="100"/>
          <a:sy n="56" d="100"/>
        </p:scale>
        <p:origin x="37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ver-bg">
            <a:extLst>
              <a:ext uri="{FF2B5EF4-FFF2-40B4-BE49-F238E27FC236}">
                <a16:creationId xmlns:a16="http://schemas.microsoft.com/office/drawing/2014/main" id="{F7CAEAAF-4279-45B9-B664-D3C5C1A9A3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201B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143159-5A0A-4ECA-8A07-27CCB9C3541A}"/>
              </a:ext>
            </a:extLst>
          </p:cNvPr>
          <p:cNvSpPr>
            <a:spLocks noGrp="1"/>
          </p:cNvSpPr>
          <p:nvPr/>
        </p:nvSpPr>
        <p:spPr>
          <a:xfrm>
            <a:off x="876300" y="723900"/>
            <a:ext cx="1653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D6B66A"/>
                </a:solidFill>
              </a:defRPr>
            </a:pPr>
            <a:r>
              <a:rPr sz="1500" b="1" i="0">
                <a:solidFill>
                  <a:srgbClr val="D6B66A"/>
                </a:solidFill>
              </a:rPr>
              <a:t>AI WEBSITE BUILDER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D23EC-346C-4D29-87B5-2626D5DEC8C1}"/>
              </a:ext>
            </a:extLst>
          </p:cNvPr>
          <p:cNvSpPr>
            <a:spLocks noGrp="1"/>
          </p:cNvSpPr>
          <p:nvPr/>
        </p:nvSpPr>
        <p:spPr>
          <a:xfrm>
            <a:off x="876300" y="1200150"/>
            <a:ext cx="6019800" cy="1885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150" b="1" i="0">
                <a:solidFill>
                  <a:srgbClr val="FFFDF8"/>
                </a:solidFill>
              </a:defRPr>
            </a:pPr>
            <a:r>
              <a:rPr sz="6150" b="1" i="0">
                <a:solidFill>
                  <a:srgbClr val="FFFDF8"/>
                </a:solidFill>
              </a:rPr>
              <a:t>AI Website Builder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A0DBE-E1B5-42F7-B787-6EF24F1948A2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2476500" cy="47625"/>
          </a:xfrm>
          <a:prstGeom prst="rect">
            <a:avLst/>
          </a:prstGeom>
          <a:solidFill>
            <a:srgbClr val="D6B66A"/>
          </a:solidFill>
          <a:ln w="0">
            <a:solidFill>
              <a:srgbClr val="D6B6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2A255-3BD7-48D8-8954-ECCAF08F52B0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84772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DED8CC"/>
                </a:solidFill>
              </a:defRPr>
            </a:pPr>
            <a:r>
              <a:rPr sz="2250" b="0" i="0">
                <a:solidFill>
                  <a:srgbClr val="DED8CC"/>
                </a:solidFill>
              </a:rPr>
              <a:t>A SaaS platform that turns a business idea into a multi-page, editable, SEO-ready website package, then learns from feedback to improve future results.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19EBAD-6F3F-4D6B-8AE9-E7CE9D8A14F3}"/>
              </a:ext>
            </a:extLst>
          </p:cNvPr>
          <p:cNvSpPr>
            <a:spLocks noGrp="1"/>
          </p:cNvSpPr>
          <p:nvPr/>
        </p:nvSpPr>
        <p:spPr>
          <a:xfrm>
            <a:off x="10850880" y="1200150"/>
            <a:ext cx="6560820" cy="7909560"/>
          </a:xfrm>
          <a:prstGeom prst="roundRect">
            <a:avLst>
              <a:gd name="adj" fmla="val 4065"/>
            </a:avLst>
          </a:prstGeom>
          <a:solidFill>
            <a:srgbClr val="183E34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24E5A-4AC7-47B5-B183-2F6A833872DE}"/>
              </a:ext>
            </a:extLst>
          </p:cNvPr>
          <p:cNvSpPr>
            <a:spLocks noGrp="1"/>
          </p:cNvSpPr>
          <p:nvPr/>
        </p:nvSpPr>
        <p:spPr>
          <a:xfrm>
            <a:off x="11239500" y="1562100"/>
            <a:ext cx="579120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FFFDF8"/>
                </a:solidFill>
              </a:defRPr>
            </a:pPr>
            <a:r>
              <a:rPr sz="2850" b="1" i="0">
                <a:solidFill>
                  <a:srgbClr val="FFFDF8"/>
                </a:solidFill>
              </a:rPr>
              <a:t>Built to move from prompt, to reviewed strategy, to generated website, to feedback-led improvement.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D96F84-E538-4E8A-B901-392C7CE51922}"/>
              </a:ext>
            </a:extLst>
          </p:cNvPr>
          <p:cNvSpPr>
            <a:spLocks noGrp="1"/>
          </p:cNvSpPr>
          <p:nvPr/>
        </p:nvSpPr>
        <p:spPr>
          <a:xfrm>
            <a:off x="11239500" y="3562350"/>
            <a:ext cx="57912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D7E5DE"/>
                </a:solidFill>
              </a:defRPr>
            </a:pPr>
            <a:r>
              <a:rPr sz="1875" b="0" i="0">
                <a:solidFill>
                  <a:srgbClr val="D7E5DE"/>
                </a:solidFill>
              </a:rPr>
              <a:t>The product is not only a generator. The direction is a self-improving production system for high-quality business websites.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6E4711-D693-4BDB-AA3E-8BE5AD8EA49E}"/>
              </a:ext>
            </a:extLst>
          </p:cNvPr>
          <p:cNvSpPr>
            <a:spLocks noGrp="1"/>
          </p:cNvSpPr>
          <p:nvPr/>
        </p:nvSpPr>
        <p:spPr>
          <a:xfrm>
            <a:off x="11231880" y="4690110"/>
            <a:ext cx="5798820" cy="1059180"/>
          </a:xfrm>
          <a:prstGeom prst="roundRect">
            <a:avLst>
              <a:gd name="adj" fmla="val 16187"/>
            </a:avLst>
          </a:prstGeom>
          <a:solidFill>
            <a:srgbClr val="0D201B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43FDD2-E9AD-4F80-AC33-3ED0B00A586B}"/>
              </a:ext>
            </a:extLst>
          </p:cNvPr>
          <p:cNvSpPr>
            <a:spLocks noGrp="1"/>
          </p:cNvSpPr>
          <p:nvPr/>
        </p:nvSpPr>
        <p:spPr>
          <a:xfrm>
            <a:off x="11506200" y="4895850"/>
            <a:ext cx="52578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6E7BA"/>
                </a:solidFill>
              </a:defRPr>
            </a:pPr>
            <a:r>
              <a:rPr sz="2100" b="1" i="0">
                <a:solidFill>
                  <a:srgbClr val="F6E7BA"/>
                </a:solidFill>
              </a:rPr>
              <a:t>Core idea: generate, inspect, edit, teach, improve.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DE44D-787A-4C8C-AF26-8BFC124F4516}"/>
              </a:ext>
            </a:extLst>
          </p:cNvPr>
          <p:cNvSpPr>
            <a:spLocks noGrp="1"/>
          </p:cNvSpPr>
          <p:nvPr/>
        </p:nvSpPr>
        <p:spPr>
          <a:xfrm>
            <a:off x="876300" y="93535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AEBEB7"/>
                </a:solidFill>
              </a:defRPr>
            </a:pPr>
            <a:r>
              <a:rPr sz="1350" b="0" i="0">
                <a:solidFill>
                  <a:srgbClr val="AEBEB7"/>
                </a:solidFill>
              </a:rPr>
              <a:t>Prepared for product, investor, and client conversations</a:t>
            </a:r>
          </a:p>
        </p:txBody>
      </p:sp>
    </p:spTree>
    <p:extLst>
      <p:ext uri="{BB962C8B-B14F-4D97-AF65-F5344CB8AC3E}">
        <p14:creationId xmlns:p14="http://schemas.microsoft.com/office/powerpoint/2010/main" val="208134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">
            <a:extLst>
              <a:ext uri="{FF2B5EF4-FFF2-40B4-BE49-F238E27FC236}">
                <a16:creationId xmlns:a16="http://schemas.microsoft.com/office/drawing/2014/main" id="{F0847B9C-DBB9-4708-9E09-C604DEB444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4EE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C1B46-5B87-4CEE-A6DD-6D4F6E1C4D7A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THE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FE224E-B242-4235-B542-4C4326EF4377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29921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Most AI website builders produce attractive screenshots, then fail in real business use.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5DCD77-3DF0-4782-985A-8ADB32070B22}"/>
              </a:ext>
            </a:extLst>
          </p:cNvPr>
          <p:cNvSpPr>
            <a:spLocks noGrp="1"/>
          </p:cNvSpPr>
          <p:nvPr/>
        </p:nvSpPr>
        <p:spPr>
          <a:xfrm>
            <a:off x="781050" y="2712720"/>
            <a:ext cx="5410200" cy="6358890"/>
          </a:xfrm>
          <a:prstGeom prst="roundRect">
            <a:avLst>
              <a:gd name="adj" fmla="val 3169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92B3AC-7219-47E0-9358-EC3CBAAC02E3}"/>
              </a:ext>
            </a:extLst>
          </p:cNvPr>
          <p:cNvSpPr>
            <a:spLocks noGrp="1"/>
          </p:cNvSpPr>
          <p:nvPr/>
        </p:nvSpPr>
        <p:spPr>
          <a:xfrm>
            <a:off x="1047750" y="2933700"/>
            <a:ext cx="487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Too generic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5355E-FDBD-4B8D-A737-905941C0FC0F}"/>
              </a:ext>
            </a:extLst>
          </p:cNvPr>
          <p:cNvSpPr>
            <a:spLocks noGrp="1"/>
          </p:cNvSpPr>
          <p:nvPr/>
        </p:nvSpPr>
        <p:spPr>
          <a:xfrm>
            <a:off x="1047750" y="3390900"/>
            <a:ext cx="4876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Headers, logos, home pages, footers, and sections often repeat across unrelated businesses.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216FAF-E3C3-4523-A7D0-05F24476B619}"/>
              </a:ext>
            </a:extLst>
          </p:cNvPr>
          <p:cNvSpPr>
            <a:spLocks noGrp="1"/>
          </p:cNvSpPr>
          <p:nvPr/>
        </p:nvSpPr>
        <p:spPr>
          <a:xfrm>
            <a:off x="6438900" y="2712720"/>
            <a:ext cx="5410200" cy="6358890"/>
          </a:xfrm>
          <a:prstGeom prst="roundRect">
            <a:avLst>
              <a:gd name="adj" fmla="val 3169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F510E-A82C-4009-B8CF-98A5A2ED4C19}"/>
              </a:ext>
            </a:extLst>
          </p:cNvPr>
          <p:cNvSpPr>
            <a:spLocks noGrp="1"/>
          </p:cNvSpPr>
          <p:nvPr/>
        </p:nvSpPr>
        <p:spPr>
          <a:xfrm>
            <a:off x="6705600" y="2933700"/>
            <a:ext cx="487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Too shallow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86361B-D198-4277-891C-258320143381}"/>
              </a:ext>
            </a:extLst>
          </p:cNvPr>
          <p:cNvSpPr>
            <a:spLocks noGrp="1"/>
          </p:cNvSpPr>
          <p:nvPr/>
        </p:nvSpPr>
        <p:spPr>
          <a:xfrm>
            <a:off x="6705600" y="3390900"/>
            <a:ext cx="4876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Copy sounds thin, images are misplaced, and pages lack local SEO, conversion logic, and authentic business detail.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E978FC-161A-4157-8F98-C08C77EE9F6B}"/>
              </a:ext>
            </a:extLst>
          </p:cNvPr>
          <p:cNvSpPr>
            <a:spLocks noGrp="1"/>
          </p:cNvSpPr>
          <p:nvPr/>
        </p:nvSpPr>
        <p:spPr>
          <a:xfrm>
            <a:off x="12096750" y="2712720"/>
            <a:ext cx="5410200" cy="6358890"/>
          </a:xfrm>
          <a:prstGeom prst="roundRect">
            <a:avLst>
              <a:gd name="adj" fmla="val 3169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F12D41-1566-4278-87B1-AE0875E698B1}"/>
              </a:ext>
            </a:extLst>
          </p:cNvPr>
          <p:cNvSpPr>
            <a:spLocks noGrp="1"/>
          </p:cNvSpPr>
          <p:nvPr/>
        </p:nvSpPr>
        <p:spPr>
          <a:xfrm>
            <a:off x="12363450" y="2933700"/>
            <a:ext cx="487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Too untested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71D2A0-9E58-46AF-8A98-F2633C5087D8}"/>
              </a:ext>
            </a:extLst>
          </p:cNvPr>
          <p:cNvSpPr>
            <a:spLocks noGrp="1"/>
          </p:cNvSpPr>
          <p:nvPr/>
        </p:nvSpPr>
        <p:spPr>
          <a:xfrm>
            <a:off x="12363450" y="3390900"/>
            <a:ext cx="4876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Users discover broken assets, bad spacing, missing pages, weak CMS flows, and deployment gaps after generation.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89EE46-2939-4406-870C-5F8EBC15D1AF}"/>
              </a:ext>
            </a:extLst>
          </p:cNvPr>
          <p:cNvSpPr>
            <a:spLocks noGrp="1"/>
          </p:cNvSpPr>
          <p:nvPr/>
        </p:nvSpPr>
        <p:spPr>
          <a:xfrm>
            <a:off x="781050" y="9353550"/>
            <a:ext cx="167259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12332A"/>
                </a:solidFill>
              </a:defRPr>
            </a:pPr>
            <a:r>
              <a:rPr sz="2100" b="1" i="0">
                <a:solidFill>
                  <a:srgbClr val="12332A"/>
                </a:solidFill>
              </a:rPr>
              <a:t>The opportunity: move from one-shot generation to a guided production system with review, QA, editing, and teaching.</a:t>
            </a:r>
          </a:p>
        </p:txBody>
      </p:sp>
    </p:spTree>
    <p:extLst>
      <p:ext uri="{BB962C8B-B14F-4D97-AF65-F5344CB8AC3E}">
        <p14:creationId xmlns:p14="http://schemas.microsoft.com/office/powerpoint/2010/main" val="19072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">
            <a:extLst>
              <a:ext uri="{FF2B5EF4-FFF2-40B4-BE49-F238E27FC236}">
                <a16:creationId xmlns:a16="http://schemas.microsoft.com/office/drawing/2014/main" id="{98994CB7-8801-430E-BDC9-626852B2B6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F10C71-806A-40AD-A48E-79E9E7615ED4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PRODUCT CONCEPT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6C665-4682-4CC8-9797-C26EB81D4F64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7753350" cy="2057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 i="0">
                <a:solidFill>
                  <a:srgbClr val="111111"/>
                </a:solidFill>
              </a:defRPr>
            </a:pPr>
            <a:r>
              <a:rPr sz="4500" b="1" i="0">
                <a:solidFill>
                  <a:srgbClr val="111111"/>
                </a:solidFill>
              </a:rPr>
              <a:t>A prompt-to-website platform with a production workflow, not a static page toy.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E0EF6-228C-4B30-BDC1-72A3FC6DFE4F}"/>
              </a:ext>
            </a:extLst>
          </p:cNvPr>
          <p:cNvSpPr>
            <a:spLocks noGrp="1"/>
          </p:cNvSpPr>
          <p:nvPr/>
        </p:nvSpPr>
        <p:spPr>
          <a:xfrm>
            <a:off x="781050" y="3390900"/>
            <a:ext cx="775335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6B665D"/>
                </a:solidFill>
              </a:defRPr>
            </a:pPr>
            <a:r>
              <a:rPr sz="2100" b="0" i="0">
                <a:solidFill>
                  <a:srgbClr val="6B665D"/>
                </a:solidFill>
              </a:rPr>
              <a:t>The builder asks smarter questions, prepares the brief, generates content and visuals, packages the website, then lets the operator edit and teach the system.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86C8CD-E3D0-4FF8-80FB-66A8366114D6}"/>
              </a:ext>
            </a:extLst>
          </p:cNvPr>
          <p:cNvSpPr>
            <a:spLocks noGrp="1"/>
          </p:cNvSpPr>
          <p:nvPr/>
        </p:nvSpPr>
        <p:spPr>
          <a:xfrm>
            <a:off x="8935879" y="1101090"/>
            <a:ext cx="8571071" cy="2744470"/>
          </a:xfrm>
          <a:prstGeom prst="roundRect">
            <a:avLst>
              <a:gd name="adj" fmla="val 6247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F7ACE-9681-4FDE-AA18-C2C6D8E05F11}"/>
              </a:ext>
            </a:extLst>
          </p:cNvPr>
          <p:cNvSpPr>
            <a:spLocks noGrp="1"/>
          </p:cNvSpPr>
          <p:nvPr/>
        </p:nvSpPr>
        <p:spPr>
          <a:xfrm>
            <a:off x="9201150" y="1333500"/>
            <a:ext cx="8039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Layer 1: Builder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E6191-04BF-4AFB-B2CB-163E7023E64C}"/>
              </a:ext>
            </a:extLst>
          </p:cNvPr>
          <p:cNvSpPr>
            <a:spLocks noGrp="1"/>
          </p:cNvSpPr>
          <p:nvPr/>
        </p:nvSpPr>
        <p:spPr>
          <a:xfrm>
            <a:off x="9201150" y="1790700"/>
            <a:ext cx="8039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Prompt review, Companies House lookup, domain suggestion, logo upload, generation progress, admin dashboard, and visual editor.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E47D55-BDA1-416E-BB94-3C9C116D4162}"/>
              </a:ext>
            </a:extLst>
          </p:cNvPr>
          <p:cNvSpPr>
            <a:spLocks noGrp="1"/>
          </p:cNvSpPr>
          <p:nvPr/>
        </p:nvSpPr>
        <p:spPr>
          <a:xfrm>
            <a:off x="8935879" y="4017010"/>
            <a:ext cx="8571071" cy="2744470"/>
          </a:xfrm>
          <a:prstGeom prst="roundRect">
            <a:avLst>
              <a:gd name="adj" fmla="val 6247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73154-D410-4A72-868D-BDB530D01B9F}"/>
              </a:ext>
            </a:extLst>
          </p:cNvPr>
          <p:cNvSpPr>
            <a:spLocks noGrp="1"/>
          </p:cNvSpPr>
          <p:nvPr/>
        </p:nvSpPr>
        <p:spPr>
          <a:xfrm>
            <a:off x="9201150" y="4248150"/>
            <a:ext cx="8039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Layer 2: Generated website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39BB12-8DF9-4671-98B5-CE833AD07520}"/>
              </a:ext>
            </a:extLst>
          </p:cNvPr>
          <p:cNvSpPr>
            <a:spLocks noGrp="1"/>
          </p:cNvSpPr>
          <p:nvPr/>
        </p:nvSpPr>
        <p:spPr>
          <a:xfrm>
            <a:off x="9201150" y="4705350"/>
            <a:ext cx="8039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Home, inner pages, contact, blog, SEO files, maps fallback, PHP admin CMS, submissions, newsletter, and deployment package.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B19B1C-2956-477B-A3C7-0B246C91C632}"/>
              </a:ext>
            </a:extLst>
          </p:cNvPr>
          <p:cNvSpPr>
            <a:spLocks noGrp="1"/>
          </p:cNvSpPr>
          <p:nvPr/>
        </p:nvSpPr>
        <p:spPr>
          <a:xfrm>
            <a:off x="8935879" y="6932930"/>
            <a:ext cx="8571071" cy="2744470"/>
          </a:xfrm>
          <a:prstGeom prst="roundRect">
            <a:avLst>
              <a:gd name="adj" fmla="val 6247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DF7A35-E66C-4D73-A69F-742092DB29D9}"/>
              </a:ext>
            </a:extLst>
          </p:cNvPr>
          <p:cNvSpPr>
            <a:spLocks noGrp="1"/>
          </p:cNvSpPr>
          <p:nvPr/>
        </p:nvSpPr>
        <p:spPr>
          <a:xfrm>
            <a:off x="9201150" y="7162800"/>
            <a:ext cx="8039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Layer 3: Learning loop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6692D4-C23A-443F-BFDE-BD106EA198D9}"/>
              </a:ext>
            </a:extLst>
          </p:cNvPr>
          <p:cNvSpPr>
            <a:spLocks noGrp="1"/>
          </p:cNvSpPr>
          <p:nvPr/>
        </p:nvSpPr>
        <p:spPr>
          <a:xfrm>
            <a:off x="9201150" y="7620000"/>
            <a:ext cx="8039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User feedback becomes structured rules and future generation guidance, with admin visibility and consent controls.</a:t>
            </a:r>
          </a:p>
        </p:txBody>
      </p:sp>
    </p:spTree>
    <p:extLst>
      <p:ext uri="{BB962C8B-B14F-4D97-AF65-F5344CB8AC3E}">
        <p14:creationId xmlns:p14="http://schemas.microsoft.com/office/powerpoint/2010/main" val="57046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">
            <a:extLst>
              <a:ext uri="{FF2B5EF4-FFF2-40B4-BE49-F238E27FC236}">
                <a16:creationId xmlns:a16="http://schemas.microsoft.com/office/drawing/2014/main" id="{95A3E727-500A-497A-AFFA-8043F5D183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201B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709A74-7503-456D-9937-F63DF9DF0C10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D6B66A"/>
                </a:solidFill>
              </a:defRPr>
            </a:pPr>
            <a:r>
              <a:rPr sz="1350" b="1" i="0">
                <a:solidFill>
                  <a:srgbClr val="D6B66A"/>
                </a:solidFill>
              </a:rPr>
              <a:t>GENERATION JOURNEY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11DAC8-B7C0-4F49-B7D1-708318EB23ED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17348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FFFDF8"/>
                </a:solidFill>
              </a:defRPr>
            </a:pPr>
            <a:r>
              <a:rPr sz="4050" b="1" i="0">
                <a:solidFill>
                  <a:srgbClr val="FFFDF8"/>
                </a:solidFill>
              </a:rPr>
              <a:t>The user experience is guided from business identity to launch-ready package.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5E1694-6BE7-4EF2-95F8-4B15738565C7}"/>
              </a:ext>
            </a:extLst>
          </p:cNvPr>
          <p:cNvSpPr>
            <a:spLocks noGrp="1"/>
          </p:cNvSpPr>
          <p:nvPr/>
        </p:nvSpPr>
        <p:spPr>
          <a:xfrm>
            <a:off x="781050" y="2621280"/>
            <a:ext cx="5435600" cy="3423285"/>
          </a:xfrm>
          <a:prstGeom prst="roundRect">
            <a:avLst>
              <a:gd name="adj" fmla="val 5008"/>
            </a:avLst>
          </a:prstGeom>
          <a:solidFill>
            <a:srgbClr val="183E34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EBC77D-BD72-464B-BAF3-B2EBAADBB5B7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1. Company check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9885F4-B65E-4483-99F7-02243FC7401B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Ask whether the business is registered. If yes, search Companies House and prefill name/address.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78597A-8D63-47E1-B608-654AFF02BFBF}"/>
              </a:ext>
            </a:extLst>
          </p:cNvPr>
          <p:cNvSpPr>
            <a:spLocks noGrp="1"/>
          </p:cNvSpPr>
          <p:nvPr/>
        </p:nvSpPr>
        <p:spPr>
          <a:xfrm>
            <a:off x="6426200" y="2621280"/>
            <a:ext cx="5435600" cy="3423285"/>
          </a:xfrm>
          <a:prstGeom prst="roundRect">
            <a:avLst>
              <a:gd name="adj" fmla="val 5008"/>
            </a:avLst>
          </a:prstGeom>
          <a:solidFill>
            <a:srgbClr val="183E34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920D14-8869-49CD-AD66-638B97235195}"/>
              </a:ext>
            </a:extLst>
          </p:cNvPr>
          <p:cNvSpPr>
            <a:spLocks noGrp="1"/>
          </p:cNvSpPr>
          <p:nvPr/>
        </p:nvSpPr>
        <p:spPr>
          <a:xfrm>
            <a:off x="6686550" y="285750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2. Prompt review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110B8E-ABCA-4F96-8BB8-F111F7FB9CF7}"/>
              </a:ext>
            </a:extLst>
          </p:cNvPr>
          <p:cNvSpPr>
            <a:spLocks noGrp="1"/>
          </p:cNvSpPr>
          <p:nvPr/>
        </p:nvSpPr>
        <p:spPr>
          <a:xfrm>
            <a:off x="6686550" y="33147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Clean voice/text input, correct wording, extract business name, propose domain, and improve the brief.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D0E47D-2F11-47B8-9182-8999A93BBC19}"/>
              </a:ext>
            </a:extLst>
          </p:cNvPr>
          <p:cNvSpPr>
            <a:spLocks noGrp="1"/>
          </p:cNvSpPr>
          <p:nvPr/>
        </p:nvSpPr>
        <p:spPr>
          <a:xfrm>
            <a:off x="12071350" y="2621280"/>
            <a:ext cx="5435600" cy="3423285"/>
          </a:xfrm>
          <a:prstGeom prst="roundRect">
            <a:avLst>
              <a:gd name="adj" fmla="val 5008"/>
            </a:avLst>
          </a:prstGeom>
          <a:solidFill>
            <a:srgbClr val="183E34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45644-DFB2-4D87-A545-1FF2CF46ECAE}"/>
              </a:ext>
            </a:extLst>
          </p:cNvPr>
          <p:cNvSpPr>
            <a:spLocks noGrp="1"/>
          </p:cNvSpPr>
          <p:nvPr/>
        </p:nvSpPr>
        <p:spPr>
          <a:xfrm>
            <a:off x="12344400" y="285750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3. Smart questions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587397-751C-4217-BEB8-9DC0BED12C7C}"/>
              </a:ext>
            </a:extLst>
          </p:cNvPr>
          <p:cNvSpPr>
            <a:spLocks noGrp="1"/>
          </p:cNvSpPr>
          <p:nvPr/>
        </p:nvSpPr>
        <p:spPr>
          <a:xfrm>
            <a:off x="12344400" y="33147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Ask only relevant follow-ups: team details, about story, services, photos, SEO keywords, tone, and fonts.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F47810-2D9C-40E5-96DF-5109B138B7B3}"/>
              </a:ext>
            </a:extLst>
          </p:cNvPr>
          <p:cNvSpPr>
            <a:spLocks noGrp="1"/>
          </p:cNvSpPr>
          <p:nvPr/>
        </p:nvSpPr>
        <p:spPr>
          <a:xfrm>
            <a:off x="781050" y="6254115"/>
            <a:ext cx="5435600" cy="3423285"/>
          </a:xfrm>
          <a:prstGeom prst="roundRect">
            <a:avLst>
              <a:gd name="adj" fmla="val 5008"/>
            </a:avLst>
          </a:prstGeom>
          <a:solidFill>
            <a:srgbClr val="102720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516A6F-AF66-42C2-8B96-5C96E463E893}"/>
              </a:ext>
            </a:extLst>
          </p:cNvPr>
          <p:cNvSpPr>
            <a:spLocks noGrp="1"/>
          </p:cNvSpPr>
          <p:nvPr/>
        </p:nvSpPr>
        <p:spPr>
          <a:xfrm>
            <a:off x="1047750" y="647700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4. Generate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EE678B-BB66-4187-8807-42732C66C205}"/>
              </a:ext>
            </a:extLst>
          </p:cNvPr>
          <p:cNvSpPr>
            <a:spLocks noGrp="1"/>
          </p:cNvSpPr>
          <p:nvPr/>
        </p:nvSpPr>
        <p:spPr>
          <a:xfrm>
            <a:off x="1047750" y="69342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Build page strategy, content, layout variants, image roles, SEO, CMS, animations, and package files.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BAA4B5-6BC2-4639-88C3-133458A028AA}"/>
              </a:ext>
            </a:extLst>
          </p:cNvPr>
          <p:cNvSpPr>
            <a:spLocks noGrp="1"/>
          </p:cNvSpPr>
          <p:nvPr/>
        </p:nvSpPr>
        <p:spPr>
          <a:xfrm>
            <a:off x="6426200" y="6254115"/>
            <a:ext cx="5435600" cy="3423285"/>
          </a:xfrm>
          <a:prstGeom prst="roundRect">
            <a:avLst>
              <a:gd name="adj" fmla="val 5008"/>
            </a:avLst>
          </a:prstGeom>
          <a:solidFill>
            <a:srgbClr val="102720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A27D69-00CA-418F-8C13-B41694A53666}"/>
              </a:ext>
            </a:extLst>
          </p:cNvPr>
          <p:cNvSpPr>
            <a:spLocks noGrp="1"/>
          </p:cNvSpPr>
          <p:nvPr/>
        </p:nvSpPr>
        <p:spPr>
          <a:xfrm>
            <a:off x="6686550" y="647700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5. Reality check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14A8A7-7C3C-4588-94F2-1F0EA9C03DE8}"/>
              </a:ext>
            </a:extLst>
          </p:cNvPr>
          <p:cNvSpPr>
            <a:spLocks noGrp="1"/>
          </p:cNvSpPr>
          <p:nvPr/>
        </p:nvSpPr>
        <p:spPr>
          <a:xfrm>
            <a:off x="6686550" y="69342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Scan for missing pages, broken assets, thin content, placeholder visuals, SEO gaps, and packaging issues.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F6A7D2-9463-4BB8-A7CC-99EABF66948F}"/>
              </a:ext>
            </a:extLst>
          </p:cNvPr>
          <p:cNvSpPr>
            <a:spLocks noGrp="1"/>
          </p:cNvSpPr>
          <p:nvPr/>
        </p:nvSpPr>
        <p:spPr>
          <a:xfrm>
            <a:off x="12071350" y="6254115"/>
            <a:ext cx="5435600" cy="3423285"/>
          </a:xfrm>
          <a:prstGeom prst="roundRect">
            <a:avLst>
              <a:gd name="adj" fmla="val 5008"/>
            </a:avLst>
          </a:prstGeom>
          <a:solidFill>
            <a:srgbClr val="102720"/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32636F-EFC4-4DB8-A9C3-09432DC5AD2B}"/>
              </a:ext>
            </a:extLst>
          </p:cNvPr>
          <p:cNvSpPr>
            <a:spLocks noGrp="1"/>
          </p:cNvSpPr>
          <p:nvPr/>
        </p:nvSpPr>
        <p:spPr>
          <a:xfrm>
            <a:off x="12344400" y="647700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6. Edit and teach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1B2552-5106-4C0D-9840-619C2227D147}"/>
              </a:ext>
            </a:extLst>
          </p:cNvPr>
          <p:cNvSpPr>
            <a:spLocks noGrp="1"/>
          </p:cNvSpPr>
          <p:nvPr/>
        </p:nvSpPr>
        <p:spPr>
          <a:xfrm>
            <a:off x="12344400" y="69342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Use the visual editor, collect feedback, and convert what worked or failed into future generation rules.</a:t>
            </a:r>
          </a:p>
        </p:txBody>
      </p:sp>
    </p:spTree>
    <p:extLst>
      <p:ext uri="{BB962C8B-B14F-4D97-AF65-F5344CB8AC3E}">
        <p14:creationId xmlns:p14="http://schemas.microsoft.com/office/powerpoint/2010/main" val="1275431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g">
            <a:extLst>
              <a:ext uri="{FF2B5EF4-FFF2-40B4-BE49-F238E27FC236}">
                <a16:creationId xmlns:a16="http://schemas.microsoft.com/office/drawing/2014/main" id="{5C9D4535-9CB2-4535-A3DA-4F07A42ED6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4EE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C22883-454B-45E1-8C80-32AC16523E29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WHAT IT CAN DO NOW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6362D6-F838-4ED5-897F-816A97E1CF7D}"/>
              </a:ext>
            </a:extLst>
          </p:cNvPr>
          <p:cNvSpPr>
            <a:spLocks noGrp="1"/>
          </p:cNvSpPr>
          <p:nvPr/>
        </p:nvSpPr>
        <p:spPr>
          <a:xfrm>
            <a:off x="781050" y="933450"/>
            <a:ext cx="60007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111111"/>
                </a:solidFill>
              </a:defRPr>
            </a:pPr>
            <a:r>
              <a:rPr sz="4050" b="1" i="0">
                <a:solidFill>
                  <a:srgbClr val="111111"/>
                </a:solidFill>
              </a:rPr>
              <a:t>Current working capabilities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04F85C-20E8-46A2-83ED-D1445359DFDF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8201025" cy="6800850"/>
          </a:xfrm>
          <a:prstGeom prst="roundRect">
            <a:avLst>
              <a:gd name="adj" fmla="val 2671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DBD60-C56B-46C3-AA51-2385B9C037D7}"/>
              </a:ext>
            </a:extLst>
          </p:cNvPr>
          <p:cNvSpPr>
            <a:spLocks noGrp="1"/>
          </p:cNvSpPr>
          <p:nvPr/>
        </p:nvSpPr>
        <p:spPr>
          <a:xfrm>
            <a:off x="1104900" y="2133600"/>
            <a:ext cx="7562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Builder application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F3116D-4F0D-4494-8E2D-0ACF2B31812F}"/>
              </a:ext>
            </a:extLst>
          </p:cNvPr>
          <p:cNvSpPr>
            <a:spLocks noGrp="1"/>
          </p:cNvSpPr>
          <p:nvPr/>
        </p:nvSpPr>
        <p:spPr>
          <a:xfrm>
            <a:off x="1104900" y="27355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1DE9F5-8A57-435D-A1B9-6DD501D35E02}"/>
              </a:ext>
            </a:extLst>
          </p:cNvPr>
          <p:cNvSpPr>
            <a:spLocks noGrp="1"/>
          </p:cNvSpPr>
          <p:nvPr/>
        </p:nvSpPr>
        <p:spPr>
          <a:xfrm>
            <a:off x="1104900" y="27432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A314C-63E1-4257-AB41-803FD662550F}"/>
              </a:ext>
            </a:extLst>
          </p:cNvPr>
          <p:cNvSpPr>
            <a:spLocks noGrp="1"/>
          </p:cNvSpPr>
          <p:nvPr/>
        </p:nvSpPr>
        <p:spPr>
          <a:xfrm>
            <a:off x="1562100" y="27432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Guided onboarding with Companies House option before the prompt.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87EA81-A751-4FDC-B3D0-4BD2BCAB68E3}"/>
              </a:ext>
            </a:extLst>
          </p:cNvPr>
          <p:cNvSpPr>
            <a:spLocks noGrp="1"/>
          </p:cNvSpPr>
          <p:nvPr/>
        </p:nvSpPr>
        <p:spPr>
          <a:xfrm>
            <a:off x="1104900" y="31927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7A8C3-3566-4E0F-A06B-9CE9F1909C3D}"/>
              </a:ext>
            </a:extLst>
          </p:cNvPr>
          <p:cNvSpPr>
            <a:spLocks noGrp="1"/>
          </p:cNvSpPr>
          <p:nvPr/>
        </p:nvSpPr>
        <p:spPr>
          <a:xfrm>
            <a:off x="1104900" y="32004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FFA902-CF13-41F7-9AA0-EAF8BE29995E}"/>
              </a:ext>
            </a:extLst>
          </p:cNvPr>
          <p:cNvSpPr>
            <a:spLocks noGrp="1"/>
          </p:cNvSpPr>
          <p:nvPr/>
        </p:nvSpPr>
        <p:spPr>
          <a:xfrm>
            <a:off x="1562100" y="320040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Prompt correction, enhancement, page planning, and optional font/style preferences.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68812B-FE06-4C06-9EB2-8CBA294DEC3B}"/>
              </a:ext>
            </a:extLst>
          </p:cNvPr>
          <p:cNvSpPr>
            <a:spLocks noGrp="1"/>
          </p:cNvSpPr>
          <p:nvPr/>
        </p:nvSpPr>
        <p:spPr>
          <a:xfrm>
            <a:off x="1104900" y="387477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AB33B5-30DB-41E0-93B7-6711E212E708}"/>
              </a:ext>
            </a:extLst>
          </p:cNvPr>
          <p:cNvSpPr>
            <a:spLocks noGrp="1"/>
          </p:cNvSpPr>
          <p:nvPr/>
        </p:nvSpPr>
        <p:spPr>
          <a:xfrm>
            <a:off x="1104900" y="38671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B68E55-3CC9-4221-B7D7-36EC90E91740}"/>
              </a:ext>
            </a:extLst>
          </p:cNvPr>
          <p:cNvSpPr>
            <a:spLocks noGrp="1"/>
          </p:cNvSpPr>
          <p:nvPr/>
        </p:nvSpPr>
        <p:spPr>
          <a:xfrm>
            <a:off x="1562100" y="386715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Logo upload and brand colour influence from the uploaded asset.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FB8E1E-9B12-41DF-B626-7255E13681AF}"/>
              </a:ext>
            </a:extLst>
          </p:cNvPr>
          <p:cNvSpPr>
            <a:spLocks noGrp="1"/>
          </p:cNvSpPr>
          <p:nvPr/>
        </p:nvSpPr>
        <p:spPr>
          <a:xfrm>
            <a:off x="1104900" y="433197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053CB4-6B1A-4C97-B724-88D2947122EE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AB2BE-7F93-4071-9E02-82825D47D97C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Domain suggestion and demo availability/readiness checks.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DB659E7-E5D3-4078-BD4D-795479548694}"/>
              </a:ext>
            </a:extLst>
          </p:cNvPr>
          <p:cNvSpPr>
            <a:spLocks noGrp="1"/>
          </p:cNvSpPr>
          <p:nvPr/>
        </p:nvSpPr>
        <p:spPr>
          <a:xfrm>
            <a:off x="1104900" y="478917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A48ABE-341B-45E2-A56A-384213D06F73}"/>
              </a:ext>
            </a:extLst>
          </p:cNvPr>
          <p:cNvSpPr>
            <a:spLocks noGrp="1"/>
          </p:cNvSpPr>
          <p:nvPr/>
        </p:nvSpPr>
        <p:spPr>
          <a:xfrm>
            <a:off x="1104900" y="47815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C1817-DB6B-4846-87DB-402558C2BA84}"/>
              </a:ext>
            </a:extLst>
          </p:cNvPr>
          <p:cNvSpPr>
            <a:spLocks noGrp="1"/>
          </p:cNvSpPr>
          <p:nvPr/>
        </p:nvSpPr>
        <p:spPr>
          <a:xfrm>
            <a:off x="1562100" y="478155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Live generation progress with detailed status and estimated timing.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99F870D-1AB5-4E8F-93DA-BF5750CE25C0}"/>
              </a:ext>
            </a:extLst>
          </p:cNvPr>
          <p:cNvSpPr>
            <a:spLocks noGrp="1"/>
          </p:cNvSpPr>
          <p:nvPr/>
        </p:nvSpPr>
        <p:spPr>
          <a:xfrm>
            <a:off x="9305925" y="1832610"/>
            <a:ext cx="8201025" cy="7844790"/>
          </a:xfrm>
          <a:prstGeom prst="roundRect">
            <a:avLst>
              <a:gd name="adj" fmla="val 2671"/>
            </a:avLst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98BDDD-6019-42DF-AE32-C12B1FBB152D}"/>
              </a:ext>
            </a:extLst>
          </p:cNvPr>
          <p:cNvSpPr>
            <a:spLocks noGrp="1"/>
          </p:cNvSpPr>
          <p:nvPr/>
        </p:nvSpPr>
        <p:spPr>
          <a:xfrm>
            <a:off x="9639300" y="2133600"/>
            <a:ext cx="7562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Generated website package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7BB0757-18F9-4F62-B60E-7F39B01034F5}"/>
              </a:ext>
            </a:extLst>
          </p:cNvPr>
          <p:cNvSpPr>
            <a:spLocks noGrp="1"/>
          </p:cNvSpPr>
          <p:nvPr/>
        </p:nvSpPr>
        <p:spPr>
          <a:xfrm>
            <a:off x="9629775" y="27355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16C6CA-080B-4CE3-9C27-CFBE51357C15}"/>
              </a:ext>
            </a:extLst>
          </p:cNvPr>
          <p:cNvSpPr>
            <a:spLocks noGrp="1"/>
          </p:cNvSpPr>
          <p:nvPr/>
        </p:nvSpPr>
        <p:spPr>
          <a:xfrm>
            <a:off x="9639300" y="27432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4F1920-3BAE-4EAD-AF1B-735031CB8B90}"/>
              </a:ext>
            </a:extLst>
          </p:cNvPr>
          <p:cNvSpPr>
            <a:spLocks noGrp="1"/>
          </p:cNvSpPr>
          <p:nvPr/>
        </p:nvSpPr>
        <p:spPr>
          <a:xfrm>
            <a:off x="10096500" y="274320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Multi-page responsive websites with varied page plans based on business type.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4CD3B1-97FA-4B1E-8B5D-85CA2977452A}"/>
              </a:ext>
            </a:extLst>
          </p:cNvPr>
          <p:cNvSpPr>
            <a:spLocks noGrp="1"/>
          </p:cNvSpPr>
          <p:nvPr/>
        </p:nvSpPr>
        <p:spPr>
          <a:xfrm>
            <a:off x="9629775" y="341757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5AB8F5-F339-4F61-966B-37A28ED82000}"/>
              </a:ext>
            </a:extLst>
          </p:cNvPr>
          <p:cNvSpPr>
            <a:spLocks noGrp="1"/>
          </p:cNvSpPr>
          <p:nvPr/>
        </p:nvSpPr>
        <p:spPr>
          <a:xfrm>
            <a:off x="9639300" y="34099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441033-99B4-4683-8ACA-ABE1F07DDE7E}"/>
              </a:ext>
            </a:extLst>
          </p:cNvPr>
          <p:cNvSpPr>
            <a:spLocks noGrp="1"/>
          </p:cNvSpPr>
          <p:nvPr/>
        </p:nvSpPr>
        <p:spPr>
          <a:xfrm>
            <a:off x="10096500" y="340995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SEO metadata, keywords, sitemap, robots, RSS, schema, canonical, and social cards.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7C92431-3614-416D-8B93-73438863FDED}"/>
              </a:ext>
            </a:extLst>
          </p:cNvPr>
          <p:cNvSpPr>
            <a:spLocks noGrp="1"/>
          </p:cNvSpPr>
          <p:nvPr/>
        </p:nvSpPr>
        <p:spPr>
          <a:xfrm>
            <a:off x="9629775" y="409956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69F015-8D37-457C-90B0-A1591C271731}"/>
              </a:ext>
            </a:extLst>
          </p:cNvPr>
          <p:cNvSpPr>
            <a:spLocks noGrp="1"/>
          </p:cNvSpPr>
          <p:nvPr/>
        </p:nvSpPr>
        <p:spPr>
          <a:xfrm>
            <a:off x="9639300" y="40957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B7ECB4-1E37-4137-B2B6-5D70F0251281}"/>
              </a:ext>
            </a:extLst>
          </p:cNvPr>
          <p:cNvSpPr>
            <a:spLocks noGrp="1"/>
          </p:cNvSpPr>
          <p:nvPr/>
        </p:nvSpPr>
        <p:spPr>
          <a:xfrm>
            <a:off x="10096500" y="409575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Contact form, maps fallback, newsletter capture, and PHP admin CMS starter.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66BE56C-EFD5-4362-AA9D-4278CDE75752}"/>
              </a:ext>
            </a:extLst>
          </p:cNvPr>
          <p:cNvSpPr>
            <a:spLocks noGrp="1"/>
          </p:cNvSpPr>
          <p:nvPr/>
        </p:nvSpPr>
        <p:spPr>
          <a:xfrm>
            <a:off x="9629775" y="47815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7474AC-BEB8-41D2-A3ED-79E457BC6094}"/>
              </a:ext>
            </a:extLst>
          </p:cNvPr>
          <p:cNvSpPr>
            <a:spLocks noGrp="1"/>
          </p:cNvSpPr>
          <p:nvPr/>
        </p:nvSpPr>
        <p:spPr>
          <a:xfrm>
            <a:off x="9639300" y="47815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41C433-8043-42FA-9C79-0FA7F93F61AD}"/>
              </a:ext>
            </a:extLst>
          </p:cNvPr>
          <p:cNvSpPr>
            <a:spLocks noGrp="1"/>
          </p:cNvSpPr>
          <p:nvPr/>
        </p:nvSpPr>
        <p:spPr>
          <a:xfrm>
            <a:off x="10096500" y="478155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AI image asset generation when configured, with fallback imagery when unavailable.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AC6DBF9-B216-4773-BB39-398BE18CA3DD}"/>
              </a:ext>
            </a:extLst>
          </p:cNvPr>
          <p:cNvSpPr>
            <a:spLocks noGrp="1"/>
          </p:cNvSpPr>
          <p:nvPr/>
        </p:nvSpPr>
        <p:spPr>
          <a:xfrm>
            <a:off x="9629775" y="546354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CB247F-6F24-4096-A2E7-05A67036F46B}"/>
              </a:ext>
            </a:extLst>
          </p:cNvPr>
          <p:cNvSpPr>
            <a:spLocks noGrp="1"/>
          </p:cNvSpPr>
          <p:nvPr/>
        </p:nvSpPr>
        <p:spPr>
          <a:xfrm>
            <a:off x="9639300" y="54673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094A22-EEB3-452E-B8B0-6D7EEF2746E9}"/>
              </a:ext>
            </a:extLst>
          </p:cNvPr>
          <p:cNvSpPr>
            <a:spLocks noGrp="1"/>
          </p:cNvSpPr>
          <p:nvPr/>
        </p:nvSpPr>
        <p:spPr>
          <a:xfrm>
            <a:off x="10096500" y="546735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6B665D"/>
                </a:solidFill>
              </a:defRPr>
            </a:pPr>
            <a:r>
              <a:rPr sz="1800" b="0" i="0">
                <a:solidFill>
                  <a:srgbClr val="6B665D"/>
                </a:solidFill>
              </a:rPr>
              <a:t>ZIP package with README, database schema, and hosting guidance.</a:t>
            </a:r>
          </a:p>
        </p:txBody>
      </p:sp>
    </p:spTree>
    <p:extLst>
      <p:ext uri="{BB962C8B-B14F-4D97-AF65-F5344CB8AC3E}">
        <p14:creationId xmlns:p14="http://schemas.microsoft.com/office/powerpoint/2010/main" val="57684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g">
            <a:extLst>
              <a:ext uri="{FF2B5EF4-FFF2-40B4-BE49-F238E27FC236}">
                <a16:creationId xmlns:a16="http://schemas.microsoft.com/office/drawing/2014/main" id="{C013983C-DF67-4BA5-9A80-98B37CA6D9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B0293-6F41-45EC-8364-340855FF60AD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GENERATED WEBSITE OUTPUT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69AFBF-92F3-4700-84F2-424F841E0FED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2153900" cy="1295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 i="0">
                <a:solidFill>
                  <a:srgbClr val="111111"/>
                </a:solidFill>
              </a:defRPr>
            </a:pPr>
            <a:r>
              <a:rPr sz="4200" b="1" i="0">
                <a:solidFill>
                  <a:srgbClr val="111111"/>
                </a:solidFill>
              </a:rPr>
              <a:t>Each website is treated as a business asset, not a single generated page.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A3DD76-69E1-4E81-A9C0-2FAD5C445337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4052888" cy="3419475"/>
          </a:xfrm>
          <a:prstGeom prst="roundRect">
            <a:avLst>
              <a:gd name="adj" fmla="val 50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BD52D2-B5C5-4D5F-98BC-7A1E958D6AEC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3524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Core pages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9648A-C3A1-4173-941A-FA40CB0F27D4}"/>
              </a:ext>
            </a:extLst>
          </p:cNvPr>
          <p:cNvSpPr>
            <a:spLocks noGrp="1"/>
          </p:cNvSpPr>
          <p:nvPr/>
        </p:nvSpPr>
        <p:spPr>
          <a:xfrm>
            <a:off x="1047750" y="3352800"/>
            <a:ext cx="35242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Home, About, Services, Team, Blog, Contact, Privacy, 404, and page-specific variants.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45ABFF-B5B9-4F6B-A2AE-6B3D318C14EC}"/>
              </a:ext>
            </a:extLst>
          </p:cNvPr>
          <p:cNvSpPr>
            <a:spLocks noGrp="1"/>
          </p:cNvSpPr>
          <p:nvPr/>
        </p:nvSpPr>
        <p:spPr>
          <a:xfrm>
            <a:off x="5005388" y="2667000"/>
            <a:ext cx="4052888" cy="3419475"/>
          </a:xfrm>
          <a:prstGeom prst="roundRect">
            <a:avLst>
              <a:gd name="adj" fmla="val 50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3E4E2E-FBEE-4FDF-870A-A1826A4BF3ED}"/>
              </a:ext>
            </a:extLst>
          </p:cNvPr>
          <p:cNvSpPr>
            <a:spLocks noGrp="1"/>
          </p:cNvSpPr>
          <p:nvPr/>
        </p:nvSpPr>
        <p:spPr>
          <a:xfrm>
            <a:off x="5276850" y="2895600"/>
            <a:ext cx="3524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CMS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048B10-57AF-4D51-9C95-20F015B797B2}"/>
              </a:ext>
            </a:extLst>
          </p:cNvPr>
          <p:cNvSpPr>
            <a:spLocks noGrp="1"/>
          </p:cNvSpPr>
          <p:nvPr/>
        </p:nvSpPr>
        <p:spPr>
          <a:xfrm>
            <a:off x="5276850" y="3352800"/>
            <a:ext cx="35242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Generated admin login, editable content, team, blog, SEO, social, settings, and submissions.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B65A84-57E1-4CD8-9319-A89E071FC431}"/>
              </a:ext>
            </a:extLst>
          </p:cNvPr>
          <p:cNvSpPr>
            <a:spLocks noGrp="1"/>
          </p:cNvSpPr>
          <p:nvPr/>
        </p:nvSpPr>
        <p:spPr>
          <a:xfrm>
            <a:off x="9229725" y="2667000"/>
            <a:ext cx="4052888" cy="3419475"/>
          </a:xfrm>
          <a:prstGeom prst="roundRect">
            <a:avLst>
              <a:gd name="adj" fmla="val 50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A2B259-CA57-4B68-A638-836F60D3059C}"/>
              </a:ext>
            </a:extLst>
          </p:cNvPr>
          <p:cNvSpPr>
            <a:spLocks noGrp="1"/>
          </p:cNvSpPr>
          <p:nvPr/>
        </p:nvSpPr>
        <p:spPr>
          <a:xfrm>
            <a:off x="9505950" y="2895600"/>
            <a:ext cx="3524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SEO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4195BA-8B92-4244-8E11-4329406E670E}"/>
              </a:ext>
            </a:extLst>
          </p:cNvPr>
          <p:cNvSpPr>
            <a:spLocks noGrp="1"/>
          </p:cNvSpPr>
          <p:nvPr/>
        </p:nvSpPr>
        <p:spPr>
          <a:xfrm>
            <a:off x="9505950" y="3352800"/>
            <a:ext cx="35242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Keyword map, density guidance, meta tags, schema, sitemap, robots, RSS, canonical URLs.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568389-E4C8-4DD7-A03E-1455A934DA27}"/>
              </a:ext>
            </a:extLst>
          </p:cNvPr>
          <p:cNvSpPr>
            <a:spLocks noGrp="1"/>
          </p:cNvSpPr>
          <p:nvPr/>
        </p:nvSpPr>
        <p:spPr>
          <a:xfrm>
            <a:off x="13454063" y="2667000"/>
            <a:ext cx="4052888" cy="3419475"/>
          </a:xfrm>
          <a:prstGeom prst="roundRect">
            <a:avLst>
              <a:gd name="adj" fmla="val 50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B928B-9347-4359-8395-89F8399B2872}"/>
              </a:ext>
            </a:extLst>
          </p:cNvPr>
          <p:cNvSpPr>
            <a:spLocks noGrp="1"/>
          </p:cNvSpPr>
          <p:nvPr/>
        </p:nvSpPr>
        <p:spPr>
          <a:xfrm>
            <a:off x="13716000" y="2895600"/>
            <a:ext cx="3524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Visual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CD057D-2863-4647-9DE5-847942DA9A81}"/>
              </a:ext>
            </a:extLst>
          </p:cNvPr>
          <p:cNvSpPr>
            <a:spLocks noGrp="1"/>
          </p:cNvSpPr>
          <p:nvPr/>
        </p:nvSpPr>
        <p:spPr>
          <a:xfrm>
            <a:off x="13716000" y="3352800"/>
            <a:ext cx="35242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Tone-aware fonts, colour tokens, header/footer variants, animation hooks, and responsive CSS.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A7D1D3-E0F6-4889-87A5-0D61188A629D}"/>
              </a:ext>
            </a:extLst>
          </p:cNvPr>
          <p:cNvSpPr>
            <a:spLocks noGrp="1"/>
          </p:cNvSpPr>
          <p:nvPr/>
        </p:nvSpPr>
        <p:spPr>
          <a:xfrm>
            <a:off x="781050" y="6257925"/>
            <a:ext cx="4052888" cy="3419475"/>
          </a:xfrm>
          <a:prstGeom prst="roundRect">
            <a:avLst>
              <a:gd name="adj" fmla="val 50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DE4C34-5872-47A1-8876-5AD08D4B9230}"/>
              </a:ext>
            </a:extLst>
          </p:cNvPr>
          <p:cNvSpPr>
            <a:spLocks noGrp="1"/>
          </p:cNvSpPr>
          <p:nvPr/>
        </p:nvSpPr>
        <p:spPr>
          <a:xfrm>
            <a:off x="1047750" y="6496050"/>
            <a:ext cx="3524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Lead capture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97E2C-4000-4A84-BDB7-E2AEA6B11AFE}"/>
              </a:ext>
            </a:extLst>
          </p:cNvPr>
          <p:cNvSpPr>
            <a:spLocks noGrp="1"/>
          </p:cNvSpPr>
          <p:nvPr/>
        </p:nvSpPr>
        <p:spPr>
          <a:xfrm>
            <a:off x="1047750" y="6953250"/>
            <a:ext cx="3524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Contact forms, newsletter capture, CSV export, SMTP settings, and enquiry flow.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4B345F8-4336-48B4-913A-8B154F4E44CE}"/>
              </a:ext>
            </a:extLst>
          </p:cNvPr>
          <p:cNvSpPr>
            <a:spLocks noGrp="1"/>
          </p:cNvSpPr>
          <p:nvPr/>
        </p:nvSpPr>
        <p:spPr>
          <a:xfrm>
            <a:off x="5005388" y="6257925"/>
            <a:ext cx="4052888" cy="3419475"/>
          </a:xfrm>
          <a:prstGeom prst="roundRect">
            <a:avLst>
              <a:gd name="adj" fmla="val 50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37B740-DCB5-4DBC-A6D8-1863DAACBAD4}"/>
              </a:ext>
            </a:extLst>
          </p:cNvPr>
          <p:cNvSpPr>
            <a:spLocks noGrp="1"/>
          </p:cNvSpPr>
          <p:nvPr/>
        </p:nvSpPr>
        <p:spPr>
          <a:xfrm>
            <a:off x="5276850" y="6496050"/>
            <a:ext cx="3524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Maps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F2D5D4-18D8-4CF3-BBBE-96DDC4FCC491}"/>
              </a:ext>
            </a:extLst>
          </p:cNvPr>
          <p:cNvSpPr>
            <a:spLocks noGrp="1"/>
          </p:cNvSpPr>
          <p:nvPr/>
        </p:nvSpPr>
        <p:spPr>
          <a:xfrm>
            <a:off x="5276850" y="6953250"/>
            <a:ext cx="35242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Google Maps when configured, custom marker, directions link, and graceful fallback.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BFEAB4-41A8-4145-9D3C-3580C3C03377}"/>
              </a:ext>
            </a:extLst>
          </p:cNvPr>
          <p:cNvSpPr>
            <a:spLocks noGrp="1"/>
          </p:cNvSpPr>
          <p:nvPr/>
        </p:nvSpPr>
        <p:spPr>
          <a:xfrm>
            <a:off x="9229725" y="6257925"/>
            <a:ext cx="4052888" cy="3419475"/>
          </a:xfrm>
          <a:prstGeom prst="roundRect">
            <a:avLst>
              <a:gd name="adj" fmla="val 50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6F672D-E92E-4AB2-ABC5-6E4BCCF1EEF9}"/>
              </a:ext>
            </a:extLst>
          </p:cNvPr>
          <p:cNvSpPr>
            <a:spLocks noGrp="1"/>
          </p:cNvSpPr>
          <p:nvPr/>
        </p:nvSpPr>
        <p:spPr>
          <a:xfrm>
            <a:off x="9505950" y="6496050"/>
            <a:ext cx="3524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Packaging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217F92-3384-4211-A91B-6A349838FE72}"/>
              </a:ext>
            </a:extLst>
          </p:cNvPr>
          <p:cNvSpPr>
            <a:spLocks noGrp="1"/>
          </p:cNvSpPr>
          <p:nvPr/>
        </p:nvSpPr>
        <p:spPr>
          <a:xfrm>
            <a:off x="9505950" y="6953250"/>
            <a:ext cx="35242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ZIP download, deployment notes for cPanel and VPS, .env example, database.sql.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9E4104-A297-42A8-95B5-2B255BA8657E}"/>
              </a:ext>
            </a:extLst>
          </p:cNvPr>
          <p:cNvSpPr>
            <a:spLocks noGrp="1"/>
          </p:cNvSpPr>
          <p:nvPr/>
        </p:nvSpPr>
        <p:spPr>
          <a:xfrm>
            <a:off x="13454063" y="6257925"/>
            <a:ext cx="4052888" cy="3419475"/>
          </a:xfrm>
          <a:prstGeom prst="roundRect">
            <a:avLst>
              <a:gd name="adj" fmla="val 50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89B5B8-78CE-4DBE-A28B-F165C1EE664B}"/>
              </a:ext>
            </a:extLst>
          </p:cNvPr>
          <p:cNvSpPr>
            <a:spLocks noGrp="1"/>
          </p:cNvSpPr>
          <p:nvPr/>
        </p:nvSpPr>
        <p:spPr>
          <a:xfrm>
            <a:off x="13716000" y="6496050"/>
            <a:ext cx="3524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Editor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102AF6-CE72-4B0D-B29B-EB4E694B9B0A}"/>
              </a:ext>
            </a:extLst>
          </p:cNvPr>
          <p:cNvSpPr>
            <a:spLocks noGrp="1"/>
          </p:cNvSpPr>
          <p:nvPr/>
        </p:nvSpPr>
        <p:spPr>
          <a:xfrm>
            <a:off x="13716000" y="6953250"/>
            <a:ext cx="3524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Basic visual editing for text, images, and logo size/placement before handoff.</a:t>
            </a:r>
          </a:p>
        </p:txBody>
      </p:sp>
    </p:spTree>
    <p:extLst>
      <p:ext uri="{BB962C8B-B14F-4D97-AF65-F5344CB8AC3E}">
        <p14:creationId xmlns:p14="http://schemas.microsoft.com/office/powerpoint/2010/main" val="721619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g">
            <a:extLst>
              <a:ext uri="{FF2B5EF4-FFF2-40B4-BE49-F238E27FC236}">
                <a16:creationId xmlns:a16="http://schemas.microsoft.com/office/drawing/2014/main" id="{B74C6B0F-AD40-4681-8E7D-50B51AFAE8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201B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429A80-D858-4A7B-BCD4-FBDC8B5A4579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D6B66A"/>
                </a:solidFill>
              </a:defRPr>
            </a:pPr>
            <a:r>
              <a:rPr sz="1350" b="1" i="0">
                <a:solidFill>
                  <a:srgbClr val="D6B66A"/>
                </a:solidFill>
              </a:rPr>
              <a:t>HONEST LIMITS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317ED0-80E8-4615-98F2-6FFFF9A3AA05}"/>
              </a:ext>
            </a:extLst>
          </p:cNvPr>
          <p:cNvSpPr>
            <a:spLocks noGrp="1"/>
          </p:cNvSpPr>
          <p:nvPr/>
        </p:nvSpPr>
        <p:spPr>
          <a:xfrm>
            <a:off x="781050" y="933450"/>
            <a:ext cx="718185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FFFDF8"/>
                </a:solidFill>
              </a:defRPr>
            </a:pPr>
            <a:r>
              <a:rPr sz="4050" b="1" i="0">
                <a:solidFill>
                  <a:srgbClr val="FFFDF8"/>
                </a:solidFill>
              </a:rPr>
              <a:t>What it cannot do perfectly today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4E9660-375D-478B-9818-EA8E51CE49F2}"/>
              </a:ext>
            </a:extLst>
          </p:cNvPr>
          <p:cNvSpPr>
            <a:spLocks noGrp="1"/>
          </p:cNvSpPr>
          <p:nvPr/>
        </p:nvSpPr>
        <p:spPr>
          <a:xfrm>
            <a:off x="781050" y="2449830"/>
            <a:ext cx="8201025" cy="7227570"/>
          </a:xfrm>
          <a:prstGeom prst="roundRect">
            <a:avLst>
              <a:gd name="adj" fmla="val 2899"/>
            </a:avLst>
          </a:prstGeom>
          <a:solidFill>
            <a:srgbClr val="173A31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F69FA6-FEE4-47C1-B3B7-6F7DB429FD9C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7562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DF8"/>
                </a:solidFill>
              </a:defRPr>
            </a:pPr>
            <a:r>
              <a:rPr sz="2550" b="1" i="0">
                <a:solidFill>
                  <a:srgbClr val="FFFDF8"/>
                </a:solidFill>
              </a:rPr>
              <a:t>Current limitations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892AFE-8E76-4CE4-B59C-BFC1B7497074}"/>
              </a:ext>
            </a:extLst>
          </p:cNvPr>
          <p:cNvSpPr>
            <a:spLocks noGrp="1"/>
          </p:cNvSpPr>
          <p:nvPr/>
        </p:nvSpPr>
        <p:spPr>
          <a:xfrm>
            <a:off x="1104900" y="33528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E19EB-5566-45B4-871A-CB6235BB99B6}"/>
              </a:ext>
            </a:extLst>
          </p:cNvPr>
          <p:cNvSpPr>
            <a:spLocks noGrp="1"/>
          </p:cNvSpPr>
          <p:nvPr/>
        </p:nvSpPr>
        <p:spPr>
          <a:xfrm>
            <a:off x="1104900" y="33528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36B548-1ED0-4F60-879D-B0F678E4B92C}"/>
              </a:ext>
            </a:extLst>
          </p:cNvPr>
          <p:cNvSpPr>
            <a:spLocks noGrp="1"/>
          </p:cNvSpPr>
          <p:nvPr/>
        </p:nvSpPr>
        <p:spPr>
          <a:xfrm>
            <a:off x="1562100" y="33528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It does not automatically retrain GPT or any foundation model by itself.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9818AF-CABA-4CC5-8D35-AA5CCF79091F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1E6B87-67DD-4A53-ADE8-D79F6C33B410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696A6E-24CF-4DB4-AC1C-702D9EA50530}"/>
              </a:ext>
            </a:extLst>
          </p:cNvPr>
          <p:cNvSpPr>
            <a:spLocks noGrp="1"/>
          </p:cNvSpPr>
          <p:nvPr/>
        </p:nvSpPr>
        <p:spPr>
          <a:xfrm>
            <a:off x="1562100" y="381000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Domain checks are demo/readiness checks, not registrar-grade purchase or reservation.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D24D7A-7BE6-4F17-819A-9F630556CB36}"/>
              </a:ext>
            </a:extLst>
          </p:cNvPr>
          <p:cNvSpPr>
            <a:spLocks noGrp="1"/>
          </p:cNvSpPr>
          <p:nvPr/>
        </p:nvSpPr>
        <p:spPr>
          <a:xfrm>
            <a:off x="1104900" y="449199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8F069F-BD36-4398-B619-68D10ED75C1C}"/>
              </a:ext>
            </a:extLst>
          </p:cNvPr>
          <p:cNvSpPr>
            <a:spLocks noGrp="1"/>
          </p:cNvSpPr>
          <p:nvPr/>
        </p:nvSpPr>
        <p:spPr>
          <a:xfrm>
            <a:off x="1104900" y="44958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E3D83-C520-4E27-8967-851F31C1A312}"/>
              </a:ext>
            </a:extLst>
          </p:cNvPr>
          <p:cNvSpPr>
            <a:spLocks noGrp="1"/>
          </p:cNvSpPr>
          <p:nvPr/>
        </p:nvSpPr>
        <p:spPr>
          <a:xfrm>
            <a:off x="1562100" y="449580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Companies House only helps for matching registered UK companies and needs API/config reliability.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EFB740-D96F-4FF4-83CA-9344DBB4C467}"/>
              </a:ext>
            </a:extLst>
          </p:cNvPr>
          <p:cNvSpPr>
            <a:spLocks noGrp="1"/>
          </p:cNvSpPr>
          <p:nvPr/>
        </p:nvSpPr>
        <p:spPr>
          <a:xfrm>
            <a:off x="1104900" y="51739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3FCF4F-2EF6-45B1-B49C-A1F87F135931}"/>
              </a:ext>
            </a:extLst>
          </p:cNvPr>
          <p:cNvSpPr>
            <a:spLocks noGrp="1"/>
          </p:cNvSpPr>
          <p:nvPr/>
        </p:nvSpPr>
        <p:spPr>
          <a:xfrm>
            <a:off x="1104900" y="51816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30CF2F-8474-42C0-BF12-984C8B1A0595}"/>
              </a:ext>
            </a:extLst>
          </p:cNvPr>
          <p:cNvSpPr>
            <a:spLocks noGrp="1"/>
          </p:cNvSpPr>
          <p:nvPr/>
        </p:nvSpPr>
        <p:spPr>
          <a:xfrm>
            <a:off x="1562100" y="518160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AI image creation depends on API access and can fall back to selected imagery.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99F4F92-31E9-46C1-8712-C7C6203CCFA7}"/>
              </a:ext>
            </a:extLst>
          </p:cNvPr>
          <p:cNvSpPr>
            <a:spLocks noGrp="1"/>
          </p:cNvSpPr>
          <p:nvPr/>
        </p:nvSpPr>
        <p:spPr>
          <a:xfrm>
            <a:off x="1104900" y="585597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0ED629-16B5-4331-A7F2-28AB6E3BA6D1}"/>
              </a:ext>
            </a:extLst>
          </p:cNvPr>
          <p:cNvSpPr>
            <a:spLocks noGrp="1"/>
          </p:cNvSpPr>
          <p:nvPr/>
        </p:nvSpPr>
        <p:spPr>
          <a:xfrm>
            <a:off x="1104900" y="58483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5984FE-6847-4F06-8A73-EBB75359129B}"/>
              </a:ext>
            </a:extLst>
          </p:cNvPr>
          <p:cNvSpPr>
            <a:spLocks noGrp="1"/>
          </p:cNvSpPr>
          <p:nvPr/>
        </p:nvSpPr>
        <p:spPr>
          <a:xfrm>
            <a:off x="1562100" y="584835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The visual editor is not yet a full Webflow/Figma-class canvas.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37F768-D247-4C87-B775-B424E69C10AB}"/>
              </a:ext>
            </a:extLst>
          </p:cNvPr>
          <p:cNvSpPr>
            <a:spLocks noGrp="1"/>
          </p:cNvSpPr>
          <p:nvPr/>
        </p:nvSpPr>
        <p:spPr>
          <a:xfrm>
            <a:off x="9305925" y="2449830"/>
            <a:ext cx="8201025" cy="7227570"/>
          </a:xfrm>
          <a:prstGeom prst="roundRect">
            <a:avLst>
              <a:gd name="adj" fmla="val 2899"/>
            </a:avLst>
          </a:prstGeom>
          <a:solidFill>
            <a:srgbClr val="102720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B8DA99-96B3-4327-8BD8-ED8475CD616D}"/>
              </a:ext>
            </a:extLst>
          </p:cNvPr>
          <p:cNvSpPr>
            <a:spLocks noGrp="1"/>
          </p:cNvSpPr>
          <p:nvPr/>
        </p:nvSpPr>
        <p:spPr>
          <a:xfrm>
            <a:off x="9639300" y="2762250"/>
            <a:ext cx="7562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DF8"/>
                </a:solidFill>
              </a:defRPr>
            </a:pPr>
            <a:r>
              <a:rPr sz="2550" b="1" i="0">
                <a:solidFill>
                  <a:srgbClr val="FFFDF8"/>
                </a:solidFill>
              </a:rPr>
              <a:t>Production risks to handle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04FD50-DBFF-446F-86A5-014EBB140DA9}"/>
              </a:ext>
            </a:extLst>
          </p:cNvPr>
          <p:cNvSpPr>
            <a:spLocks noGrp="1"/>
          </p:cNvSpPr>
          <p:nvPr/>
        </p:nvSpPr>
        <p:spPr>
          <a:xfrm>
            <a:off x="9629775" y="33528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E454BD-717B-4E27-A028-72F952361209}"/>
              </a:ext>
            </a:extLst>
          </p:cNvPr>
          <p:cNvSpPr>
            <a:spLocks noGrp="1"/>
          </p:cNvSpPr>
          <p:nvPr/>
        </p:nvSpPr>
        <p:spPr>
          <a:xfrm>
            <a:off x="9639300" y="33528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197222-3AFD-4104-81DD-DC648F17081D}"/>
              </a:ext>
            </a:extLst>
          </p:cNvPr>
          <p:cNvSpPr>
            <a:spLocks noGrp="1"/>
          </p:cNvSpPr>
          <p:nvPr/>
        </p:nvSpPr>
        <p:spPr>
          <a:xfrm>
            <a:off x="10096500" y="33528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Generated CMS needs final hardening before high-scale paid hosting.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C43461-3852-49C6-9D77-DCB34ACD3F1B}"/>
              </a:ext>
            </a:extLst>
          </p:cNvPr>
          <p:cNvSpPr>
            <a:spLocks noGrp="1"/>
          </p:cNvSpPr>
          <p:nvPr/>
        </p:nvSpPr>
        <p:spPr>
          <a:xfrm>
            <a:off x="9629775" y="38100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F31A28-9687-4C51-8578-2777DC459DB2}"/>
              </a:ext>
            </a:extLst>
          </p:cNvPr>
          <p:cNvSpPr>
            <a:spLocks noGrp="1"/>
          </p:cNvSpPr>
          <p:nvPr/>
        </p:nvSpPr>
        <p:spPr>
          <a:xfrm>
            <a:off x="9639300" y="38100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7D054F-2BBF-43AE-967E-BA671B29D863}"/>
              </a:ext>
            </a:extLst>
          </p:cNvPr>
          <p:cNvSpPr>
            <a:spLocks noGrp="1"/>
          </p:cNvSpPr>
          <p:nvPr/>
        </p:nvSpPr>
        <p:spPr>
          <a:xfrm>
            <a:off x="10096500" y="381000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Reality Check is useful but not a replacement for full Lighthouse, accessibility, security, and legal review.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927B923-5AD7-4E4B-B5DB-C6E716070D8F}"/>
              </a:ext>
            </a:extLst>
          </p:cNvPr>
          <p:cNvSpPr>
            <a:spLocks noGrp="1"/>
          </p:cNvSpPr>
          <p:nvPr/>
        </p:nvSpPr>
        <p:spPr>
          <a:xfrm>
            <a:off x="9629775" y="449199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4982C6-E259-4B7C-BF03-8C52E30B087D}"/>
              </a:ext>
            </a:extLst>
          </p:cNvPr>
          <p:cNvSpPr>
            <a:spLocks noGrp="1"/>
          </p:cNvSpPr>
          <p:nvPr/>
        </p:nvSpPr>
        <p:spPr>
          <a:xfrm>
            <a:off x="9639300" y="44958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A55BAB-9EF0-43F0-A7F6-B8AA9B5A5727}"/>
              </a:ext>
            </a:extLst>
          </p:cNvPr>
          <p:cNvSpPr>
            <a:spLocks noGrp="1"/>
          </p:cNvSpPr>
          <p:nvPr/>
        </p:nvSpPr>
        <p:spPr>
          <a:xfrm>
            <a:off x="10096500" y="4495800"/>
            <a:ext cx="7105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Deployment is packaged and guided; universal one-click hosting still needs provider integrations.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EF1D85-54EB-4BE4-8C17-381B6162FC3E}"/>
              </a:ext>
            </a:extLst>
          </p:cNvPr>
          <p:cNvSpPr>
            <a:spLocks noGrp="1"/>
          </p:cNvSpPr>
          <p:nvPr/>
        </p:nvSpPr>
        <p:spPr>
          <a:xfrm>
            <a:off x="9629775" y="51739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2CD926-AF08-4A8D-A80E-2D0614300AA4}"/>
              </a:ext>
            </a:extLst>
          </p:cNvPr>
          <p:cNvSpPr>
            <a:spLocks noGrp="1"/>
          </p:cNvSpPr>
          <p:nvPr/>
        </p:nvSpPr>
        <p:spPr>
          <a:xfrm>
            <a:off x="9639300" y="51816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90A258-4BC9-42FB-A75C-D268AEC8D63E}"/>
              </a:ext>
            </a:extLst>
          </p:cNvPr>
          <p:cNvSpPr>
            <a:spLocks noGrp="1"/>
          </p:cNvSpPr>
          <p:nvPr/>
        </p:nvSpPr>
        <p:spPr>
          <a:xfrm>
            <a:off x="10096500" y="51816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Client feedback and operator review remain essential for premium results.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68AECB9-A372-409C-A7E3-258CB30B7BFB}"/>
              </a:ext>
            </a:extLst>
          </p:cNvPr>
          <p:cNvSpPr>
            <a:spLocks noGrp="1"/>
          </p:cNvSpPr>
          <p:nvPr/>
        </p:nvSpPr>
        <p:spPr>
          <a:xfrm>
            <a:off x="9629775" y="56311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3F8F63-2BB4-4231-B3EF-A1108CF5B53D}"/>
              </a:ext>
            </a:extLst>
          </p:cNvPr>
          <p:cNvSpPr>
            <a:spLocks noGrp="1"/>
          </p:cNvSpPr>
          <p:nvPr/>
        </p:nvSpPr>
        <p:spPr>
          <a:xfrm>
            <a:off x="9639300" y="56388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C25585-22E5-489F-9FE0-81EDD26D9966}"/>
              </a:ext>
            </a:extLst>
          </p:cNvPr>
          <p:cNvSpPr>
            <a:spLocks noGrp="1"/>
          </p:cNvSpPr>
          <p:nvPr/>
        </p:nvSpPr>
        <p:spPr>
          <a:xfrm>
            <a:off x="10096500" y="56388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9D4CE"/>
                </a:solidFill>
              </a:defRPr>
            </a:pPr>
            <a:r>
              <a:rPr sz="1800" b="0" i="0">
                <a:solidFill>
                  <a:srgbClr val="C9D4CE"/>
                </a:solidFill>
              </a:rPr>
              <a:t>Private data must not be used for training without consent and controls.</a:t>
            </a:r>
          </a:p>
        </p:txBody>
      </p:sp>
    </p:spTree>
    <p:extLst>
      <p:ext uri="{BB962C8B-B14F-4D97-AF65-F5344CB8AC3E}">
        <p14:creationId xmlns:p14="http://schemas.microsoft.com/office/powerpoint/2010/main" val="2022015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g">
            <a:extLst>
              <a:ext uri="{FF2B5EF4-FFF2-40B4-BE49-F238E27FC236}">
                <a16:creationId xmlns:a16="http://schemas.microsoft.com/office/drawing/2014/main" id="{B9C77709-7E64-452D-B50C-807EC1E3E7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4EE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6C50DF-D102-4D25-B26A-D7CE940EC885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QUALITY LAYER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DE8717-DCC4-4B33-B9E4-10EAF081C2E6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3773150" cy="1295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 i="0">
                <a:solidFill>
                  <a:srgbClr val="111111"/>
                </a:solidFill>
              </a:defRPr>
            </a:pPr>
            <a:r>
              <a:rPr sz="4200" b="1" i="0">
                <a:solidFill>
                  <a:srgbClr val="111111"/>
                </a:solidFill>
              </a:rPr>
              <a:t>Reality Check Agent is the difference between looks generated and ready to inspect.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B67B75-2E05-4949-A9E8-89AF19834DCA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8201025" cy="7010400"/>
          </a:xfrm>
          <a:prstGeom prst="roundRect">
            <a:avLst>
              <a:gd name="adj" fmla="val 3261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7A956-F2CE-4112-8B0E-84A94C95CAC5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7562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Checks before the client sees it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F48583-8BC1-4B0B-931C-24B4883A630B}"/>
              </a:ext>
            </a:extLst>
          </p:cNvPr>
          <p:cNvSpPr>
            <a:spLocks noGrp="1"/>
          </p:cNvSpPr>
          <p:nvPr/>
        </p:nvSpPr>
        <p:spPr>
          <a:xfrm>
            <a:off x="1104900" y="35737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F1C758-6A1F-4266-8BBC-CB4218A2714A}"/>
              </a:ext>
            </a:extLst>
          </p:cNvPr>
          <p:cNvSpPr>
            <a:spLocks noGrp="1"/>
          </p:cNvSpPr>
          <p:nvPr/>
        </p:nvSpPr>
        <p:spPr>
          <a:xfrm>
            <a:off x="1104900" y="35814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4C1879-97C4-440C-AD90-9CFBDF4898B4}"/>
              </a:ext>
            </a:extLst>
          </p:cNvPr>
          <p:cNvSpPr>
            <a:spLocks noGrp="1"/>
          </p:cNvSpPr>
          <p:nvPr/>
        </p:nvSpPr>
        <p:spPr>
          <a:xfrm>
            <a:off x="1562100" y="35814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Missing files and broken page links.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C71BFA-3BEC-4664-B8CD-B0DD5567CA2A}"/>
              </a:ext>
            </a:extLst>
          </p:cNvPr>
          <p:cNvSpPr>
            <a:spLocks noGrp="1"/>
          </p:cNvSpPr>
          <p:nvPr/>
        </p:nvSpPr>
        <p:spPr>
          <a:xfrm>
            <a:off x="1104900" y="40309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820C5-CDE2-4F88-B7D4-905F286BB98E}"/>
              </a:ext>
            </a:extLst>
          </p:cNvPr>
          <p:cNvSpPr>
            <a:spLocks noGrp="1"/>
          </p:cNvSpPr>
          <p:nvPr/>
        </p:nvSpPr>
        <p:spPr>
          <a:xfrm>
            <a:off x="1104900" y="40386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F9820C-FECF-435F-871B-ADBA1262D0BF}"/>
              </a:ext>
            </a:extLst>
          </p:cNvPr>
          <p:cNvSpPr>
            <a:spLocks noGrp="1"/>
          </p:cNvSpPr>
          <p:nvPr/>
        </p:nvSpPr>
        <p:spPr>
          <a:xfrm>
            <a:off x="1562100" y="40386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Placeholder images, empty sections, and thin hero content.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E91FD3-9F48-4399-B84D-93874C3B7D02}"/>
              </a:ext>
            </a:extLst>
          </p:cNvPr>
          <p:cNvSpPr>
            <a:spLocks noGrp="1"/>
          </p:cNvSpPr>
          <p:nvPr/>
        </p:nvSpPr>
        <p:spPr>
          <a:xfrm>
            <a:off x="1104900" y="44881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7B47E2-1A6E-42AF-BAB2-288FCA644101}"/>
              </a:ext>
            </a:extLst>
          </p:cNvPr>
          <p:cNvSpPr>
            <a:spLocks noGrp="1"/>
          </p:cNvSpPr>
          <p:nvPr/>
        </p:nvSpPr>
        <p:spPr>
          <a:xfrm>
            <a:off x="1104900" y="44958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75BCE-B98F-4EF5-B69D-A5E2871752B9}"/>
              </a:ext>
            </a:extLst>
          </p:cNvPr>
          <p:cNvSpPr>
            <a:spLocks noGrp="1"/>
          </p:cNvSpPr>
          <p:nvPr/>
        </p:nvSpPr>
        <p:spPr>
          <a:xfrm>
            <a:off x="1562100" y="44958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SEO coverage, keyword usage, schema, sitemap, and meta tags.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C66C34-0AEF-4580-BA4D-F9D934027EB6}"/>
              </a:ext>
            </a:extLst>
          </p:cNvPr>
          <p:cNvSpPr>
            <a:spLocks noGrp="1"/>
          </p:cNvSpPr>
          <p:nvPr/>
        </p:nvSpPr>
        <p:spPr>
          <a:xfrm>
            <a:off x="1104900" y="49453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9E9C6C-8F40-43C6-A4A0-EB7CEF640FD5}"/>
              </a:ext>
            </a:extLst>
          </p:cNvPr>
          <p:cNvSpPr>
            <a:spLocks noGrp="1"/>
          </p:cNvSpPr>
          <p:nvPr/>
        </p:nvSpPr>
        <p:spPr>
          <a:xfrm>
            <a:off x="1104900" y="49530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010F37-0BA3-4817-AE1B-56A7E8A0369D}"/>
              </a:ext>
            </a:extLst>
          </p:cNvPr>
          <p:cNvSpPr>
            <a:spLocks noGrp="1"/>
          </p:cNvSpPr>
          <p:nvPr/>
        </p:nvSpPr>
        <p:spPr>
          <a:xfrm>
            <a:off x="1562100" y="49530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Security signals for forms, CMS, CSRF, and upload handling.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30819F-89D0-4B9F-BFA8-E5607E9BD409}"/>
              </a:ext>
            </a:extLst>
          </p:cNvPr>
          <p:cNvSpPr>
            <a:spLocks noGrp="1"/>
          </p:cNvSpPr>
          <p:nvPr/>
        </p:nvSpPr>
        <p:spPr>
          <a:xfrm>
            <a:off x="1104900" y="540258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4E46B4-FAEF-4AF1-BE9B-1BB98AE392ED}"/>
              </a:ext>
            </a:extLst>
          </p:cNvPr>
          <p:cNvSpPr>
            <a:spLocks noGrp="1"/>
          </p:cNvSpPr>
          <p:nvPr/>
        </p:nvSpPr>
        <p:spPr>
          <a:xfrm>
            <a:off x="1104900" y="54102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732ADE-FF4C-419A-9AE1-85D3A8998ABA}"/>
              </a:ext>
            </a:extLst>
          </p:cNvPr>
          <p:cNvSpPr>
            <a:spLocks noGrp="1"/>
          </p:cNvSpPr>
          <p:nvPr/>
        </p:nvSpPr>
        <p:spPr>
          <a:xfrm>
            <a:off x="1562100" y="5410200"/>
            <a:ext cx="7105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Packaging readiness for ZIP, README, database, and deployment.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1B041D-2992-4CC4-98CC-DB106305E2B6}"/>
              </a:ext>
            </a:extLst>
          </p:cNvPr>
          <p:cNvSpPr>
            <a:spLocks noGrp="1"/>
          </p:cNvSpPr>
          <p:nvPr/>
        </p:nvSpPr>
        <p:spPr>
          <a:xfrm>
            <a:off x="9305925" y="2667000"/>
            <a:ext cx="8201025" cy="7010400"/>
          </a:xfrm>
          <a:prstGeom prst="roundRect">
            <a:avLst>
              <a:gd name="adj" fmla="val 3261"/>
            </a:avLst>
          </a:prstGeom>
          <a:solidFill>
            <a:srgbClr val="111111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C412C9-52A1-49DA-ACFE-C699DCB3A9C0}"/>
              </a:ext>
            </a:extLst>
          </p:cNvPr>
          <p:cNvSpPr>
            <a:spLocks noGrp="1"/>
          </p:cNvSpPr>
          <p:nvPr/>
        </p:nvSpPr>
        <p:spPr>
          <a:xfrm>
            <a:off x="9639300" y="2952750"/>
            <a:ext cx="7562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FDF8"/>
                </a:solidFill>
              </a:defRPr>
            </a:pPr>
            <a:r>
              <a:rPr sz="2700" b="1" i="0">
                <a:solidFill>
                  <a:srgbClr val="FFFDF8"/>
                </a:solidFill>
              </a:rPr>
              <a:t>Why it matters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EBC3FE-2930-4993-839B-19F88C358BB6}"/>
              </a:ext>
            </a:extLst>
          </p:cNvPr>
          <p:cNvSpPr>
            <a:spLocks noGrp="1"/>
          </p:cNvSpPr>
          <p:nvPr/>
        </p:nvSpPr>
        <p:spPr>
          <a:xfrm>
            <a:off x="9639300" y="3600450"/>
            <a:ext cx="756285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E7E0D4"/>
                </a:solidFill>
              </a:defRPr>
            </a:pPr>
            <a:r>
              <a:rPr sz="2100" b="0" i="0">
                <a:solidFill>
                  <a:srgbClr val="E7E0D4"/>
                </a:solidFill>
              </a:rPr>
              <a:t>Lovable/Replit-style tools often rely on the user to find bugs manually. This product direction adds a quality gate that actively looks for broken flows and weak output before handoff.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CC64EE-3141-4F94-98DD-8501A7DACE73}"/>
              </a:ext>
            </a:extLst>
          </p:cNvPr>
          <p:cNvSpPr>
            <a:spLocks noGrp="1"/>
          </p:cNvSpPr>
          <p:nvPr/>
        </p:nvSpPr>
        <p:spPr>
          <a:xfrm>
            <a:off x="9629775" y="4781550"/>
            <a:ext cx="7553325" cy="762000"/>
          </a:xfrm>
          <a:prstGeom prst="roundRect">
            <a:avLst>
              <a:gd name="adj" fmla="val 22500"/>
            </a:avLst>
          </a:prstGeom>
          <a:solidFill>
            <a:srgbClr val="2B2417"/>
          </a:solidFill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8C6BD3-687B-4C48-8611-C376C1E8CE61}"/>
              </a:ext>
            </a:extLst>
          </p:cNvPr>
          <p:cNvSpPr>
            <a:spLocks noGrp="1"/>
          </p:cNvSpPr>
          <p:nvPr/>
        </p:nvSpPr>
        <p:spPr>
          <a:xfrm>
            <a:off x="9886950" y="4991100"/>
            <a:ext cx="7067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6E7BA"/>
                </a:solidFill>
              </a:defRPr>
            </a:pPr>
            <a:r>
              <a:rPr sz="2250" b="1" i="0">
                <a:solidFill>
                  <a:srgbClr val="F6E7BA"/>
                </a:solidFill>
              </a:rPr>
              <a:t>Moat: generation + inspection + editing + teaching.</a:t>
            </a:r>
          </a:p>
        </p:txBody>
      </p:sp>
    </p:spTree>
    <p:extLst>
      <p:ext uri="{BB962C8B-B14F-4D97-AF65-F5344CB8AC3E}">
        <p14:creationId xmlns:p14="http://schemas.microsoft.com/office/powerpoint/2010/main" val="1838417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">
            <a:extLst>
              <a:ext uri="{FF2B5EF4-FFF2-40B4-BE49-F238E27FC236}">
                <a16:creationId xmlns:a16="http://schemas.microsoft.com/office/drawing/2014/main" id="{9075470F-4EC5-43C6-8DCA-B37356B321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AD053-739B-4A78-A1A7-2EF65E533CF4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TEACHING LAYER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F14082-6814-44F5-BA4B-A73074F73C97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3068300" cy="1295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 i="0">
                <a:solidFill>
                  <a:srgbClr val="111111"/>
                </a:solidFill>
              </a:defRPr>
            </a:pPr>
            <a:r>
              <a:rPr sz="4200" b="1" i="0">
                <a:solidFill>
                  <a:srgbClr val="111111"/>
                </a:solidFill>
              </a:rPr>
              <a:t>The system learns through feedback memory before it ever needs model fine-tuning.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4D2D08-B29B-4D1A-8829-A6D77DBC982C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7346633" cy="2222500"/>
          </a:xfrm>
          <a:prstGeom prst="roundRect">
            <a:avLst>
              <a:gd name="adj" fmla="val 77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CEEBD-8B99-4F84-91FB-66B95F11DC5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6819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Capture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F400BB-8473-47F5-8EF8-94E09143D0DB}"/>
              </a:ext>
            </a:extLst>
          </p:cNvPr>
          <p:cNvSpPr>
            <a:spLocks noGrp="1"/>
          </p:cNvSpPr>
          <p:nvPr/>
        </p:nvSpPr>
        <p:spPr>
          <a:xfrm>
            <a:off x="1047750" y="3352800"/>
            <a:ext cx="68199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Rating, what worked, what failed, desired changes, industry, prompt, pages, style choices, and generated output.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1DBD9E-D84C-4023-AE71-966DD318E9DC}"/>
              </a:ext>
            </a:extLst>
          </p:cNvPr>
          <p:cNvSpPr>
            <a:spLocks noGrp="1"/>
          </p:cNvSpPr>
          <p:nvPr/>
        </p:nvSpPr>
        <p:spPr>
          <a:xfrm>
            <a:off x="781050" y="5060950"/>
            <a:ext cx="7346633" cy="2222500"/>
          </a:xfrm>
          <a:prstGeom prst="roundRect">
            <a:avLst>
              <a:gd name="adj" fmla="val 77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98E83-0CA4-4B1B-8C11-661D8CA3AD0F}"/>
              </a:ext>
            </a:extLst>
          </p:cNvPr>
          <p:cNvSpPr>
            <a:spLocks noGrp="1"/>
          </p:cNvSpPr>
          <p:nvPr/>
        </p:nvSpPr>
        <p:spPr>
          <a:xfrm>
            <a:off x="1047750" y="5295900"/>
            <a:ext cx="6819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Convert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AC6800-89C6-4920-ADB6-97C2D70C38D1}"/>
              </a:ext>
            </a:extLst>
          </p:cNvPr>
          <p:cNvSpPr>
            <a:spLocks noGrp="1"/>
          </p:cNvSpPr>
          <p:nvPr/>
        </p:nvSpPr>
        <p:spPr>
          <a:xfrm>
            <a:off x="1047750" y="5753100"/>
            <a:ext cx="68199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Feedback becomes clear rules: repeat this, avoid this, prioritise this, ask for this information earlier.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5B7200-9C52-4843-9225-D15695D12B48}"/>
              </a:ext>
            </a:extLst>
          </p:cNvPr>
          <p:cNvSpPr>
            <a:spLocks noGrp="1"/>
          </p:cNvSpPr>
          <p:nvPr/>
        </p:nvSpPr>
        <p:spPr>
          <a:xfrm>
            <a:off x="781050" y="7454900"/>
            <a:ext cx="7346633" cy="2222500"/>
          </a:xfrm>
          <a:prstGeom prst="roundRect">
            <a:avLst>
              <a:gd name="adj" fmla="val 7714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A79881-B2AB-463C-B810-093C0620A620}"/>
              </a:ext>
            </a:extLst>
          </p:cNvPr>
          <p:cNvSpPr>
            <a:spLocks noGrp="1"/>
          </p:cNvSpPr>
          <p:nvPr/>
        </p:nvSpPr>
        <p:spPr>
          <a:xfrm>
            <a:off x="1047750" y="7677150"/>
            <a:ext cx="6819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Apply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250327-3BCD-4B41-B9D1-10E27099ADB9}"/>
              </a:ext>
            </a:extLst>
          </p:cNvPr>
          <p:cNvSpPr>
            <a:spLocks noGrp="1"/>
          </p:cNvSpPr>
          <p:nvPr/>
        </p:nvSpPr>
        <p:spPr>
          <a:xfrm>
            <a:off x="1047750" y="8134350"/>
            <a:ext cx="68199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Future generations pull matching global and industry rules into the brief before page design starts.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C374A7-CECD-4B74-9E9A-4ADF18CD269F}"/>
              </a:ext>
            </a:extLst>
          </p:cNvPr>
          <p:cNvSpPr>
            <a:spLocks noGrp="1"/>
          </p:cNvSpPr>
          <p:nvPr/>
        </p:nvSpPr>
        <p:spPr>
          <a:xfrm>
            <a:off x="8527733" y="2667000"/>
            <a:ext cx="8979218" cy="7010400"/>
          </a:xfrm>
          <a:prstGeom prst="roundRect">
            <a:avLst>
              <a:gd name="adj" fmla="val 3804"/>
            </a:avLst>
          </a:prstGeom>
          <a:solidFill>
            <a:srgbClr val="0D201B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B8163-D8EC-46AF-807A-6D8432B6FED5}"/>
              </a:ext>
            </a:extLst>
          </p:cNvPr>
          <p:cNvSpPr>
            <a:spLocks noGrp="1"/>
          </p:cNvSpPr>
          <p:nvPr/>
        </p:nvSpPr>
        <p:spPr>
          <a:xfrm>
            <a:off x="8934450" y="3028950"/>
            <a:ext cx="8172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DF8"/>
                </a:solidFill>
              </a:defRPr>
            </a:pPr>
            <a:r>
              <a:rPr sz="2550" b="1" i="0">
                <a:solidFill>
                  <a:srgbClr val="FFFDF8"/>
                </a:solidFill>
              </a:rPr>
              <a:t>Important positioning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F739FC-C22C-4F6C-9C42-BD02D7BA9A71}"/>
              </a:ext>
            </a:extLst>
          </p:cNvPr>
          <p:cNvSpPr>
            <a:spLocks noGrp="1"/>
          </p:cNvSpPr>
          <p:nvPr/>
        </p:nvSpPr>
        <p:spPr>
          <a:xfrm>
            <a:off x="8934450" y="3638550"/>
            <a:ext cx="817245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 i="0">
                <a:solidFill>
                  <a:srgbClr val="DDE7E2"/>
                </a:solidFill>
              </a:defRPr>
            </a:pPr>
            <a:r>
              <a:rPr sz="2325" b="0" i="0">
                <a:solidFill>
                  <a:srgbClr val="DDE7E2"/>
                </a:solidFill>
              </a:rPr>
              <a:t>This is not secret automatic retraining. It is an auditable learning memory that improves prompts, decisions, page strategy, image direction, and checks over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5E51E6-0499-4F9B-9273-BE66CABE4A2A}"/>
              </a:ext>
            </a:extLst>
          </p:cNvPr>
          <p:cNvSpPr>
            <a:spLocks noGrp="1"/>
          </p:cNvSpPr>
          <p:nvPr/>
        </p:nvSpPr>
        <p:spPr>
          <a:xfrm>
            <a:off x="8934450" y="4933950"/>
            <a:ext cx="81724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 i="0">
                <a:solidFill>
                  <a:srgbClr val="C2D3CC"/>
                </a:solidFill>
              </a:defRPr>
            </a:pPr>
            <a:r>
              <a:rPr sz="2025" b="0" i="0">
                <a:solidFill>
                  <a:srgbClr val="C2D3CC"/>
                </a:solidFill>
              </a:rPr>
              <a:t>That makes the product safer, explainable, and easier to improve while collecting enough clean data for future custom training.</a:t>
            </a:r>
          </a:p>
        </p:txBody>
      </p:sp>
    </p:spTree>
    <p:extLst>
      <p:ext uri="{BB962C8B-B14F-4D97-AF65-F5344CB8AC3E}">
        <p14:creationId xmlns:p14="http://schemas.microsoft.com/office/powerpoint/2010/main" val="217081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">
            <a:extLst>
              <a:ext uri="{FF2B5EF4-FFF2-40B4-BE49-F238E27FC236}">
                <a16:creationId xmlns:a16="http://schemas.microsoft.com/office/drawing/2014/main" id="{50D4FA4C-0F02-491D-9161-EC5A96C45A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4EE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F3689C-87FE-42A0-B45B-5B3CD1F76CE5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DATA FLYWHEEL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1AE58C-FCC3-4D4D-B9DA-02B4C6C2C756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1410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How data can be used to reach the desired results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F1B9AB-B15F-45FD-BCC4-AB2B94E69770}"/>
              </a:ext>
            </a:extLst>
          </p:cNvPr>
          <p:cNvSpPr>
            <a:spLocks noGrp="1"/>
          </p:cNvSpPr>
          <p:nvPr/>
        </p:nvSpPr>
        <p:spPr>
          <a:xfrm>
            <a:off x="781050" y="2049780"/>
            <a:ext cx="5435600" cy="7067550"/>
          </a:xfrm>
          <a:prstGeom prst="roundRect">
            <a:avLst>
              <a:gd name="adj" fmla="val 4206"/>
            </a:avLst>
          </a:prstGeom>
          <a:solidFill>
            <a:srgbClr val="111111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572C0-3ABD-4058-AE9A-25B6EAD092DB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48577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DF8"/>
                </a:solidFill>
              </a:defRPr>
            </a:pPr>
            <a:r>
              <a:rPr sz="2550" b="1" i="0">
                <a:solidFill>
                  <a:srgbClr val="FFFDF8"/>
                </a:solidFill>
              </a:rPr>
              <a:t>1. Learn from outcomes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713B2-6478-4630-A228-E3A9E1FFABF4}"/>
              </a:ext>
            </a:extLst>
          </p:cNvPr>
          <p:cNvSpPr>
            <a:spLocks noGrp="1"/>
          </p:cNvSpPr>
          <p:nvPr/>
        </p:nvSpPr>
        <p:spPr>
          <a:xfrm>
            <a:off x="1066800" y="2895600"/>
            <a:ext cx="4857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E7E0D4"/>
                </a:solidFill>
              </a:defRPr>
            </a:pPr>
            <a:r>
              <a:rPr sz="1875" b="0" i="0">
                <a:solidFill>
                  <a:srgbClr val="E7E0D4"/>
                </a:solidFill>
              </a:rPr>
              <a:t>Track which layouts, copy angles, image styles, keywords, and page structures receive positive feedback or generate enquiries.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891283-4382-4230-B043-878297244E9F}"/>
              </a:ext>
            </a:extLst>
          </p:cNvPr>
          <p:cNvSpPr>
            <a:spLocks noGrp="1"/>
          </p:cNvSpPr>
          <p:nvPr/>
        </p:nvSpPr>
        <p:spPr>
          <a:xfrm>
            <a:off x="6426200" y="2049780"/>
            <a:ext cx="5435600" cy="7067550"/>
          </a:xfrm>
          <a:prstGeom prst="roundRect">
            <a:avLst>
              <a:gd name="adj" fmla="val 4206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87573-57D6-432F-B7C4-9346A83D62E2}"/>
              </a:ext>
            </a:extLst>
          </p:cNvPr>
          <p:cNvSpPr>
            <a:spLocks noGrp="1"/>
          </p:cNvSpPr>
          <p:nvPr/>
        </p:nvSpPr>
        <p:spPr>
          <a:xfrm>
            <a:off x="6705600" y="2343150"/>
            <a:ext cx="48577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2. Build playbooks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E7FC4E-71BB-4B1D-9BD9-A3E2A40B60BF}"/>
              </a:ext>
            </a:extLst>
          </p:cNvPr>
          <p:cNvSpPr>
            <a:spLocks noGrp="1"/>
          </p:cNvSpPr>
          <p:nvPr/>
        </p:nvSpPr>
        <p:spPr>
          <a:xfrm>
            <a:off x="6705600" y="2895600"/>
            <a:ext cx="4857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6B665D"/>
                </a:solidFill>
              </a:defRPr>
            </a:pPr>
            <a:r>
              <a:rPr sz="1875" b="0" i="0">
                <a:solidFill>
                  <a:srgbClr val="6B665D"/>
                </a:solidFill>
              </a:rPr>
              <a:t>Turn repeated success into industry playbooks: tutoring, insolvency, dental, fitness, property, ecommerce, hospitality, and advisory.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A3F932-D7C5-4183-AD93-7537807584A1}"/>
              </a:ext>
            </a:extLst>
          </p:cNvPr>
          <p:cNvSpPr>
            <a:spLocks noGrp="1"/>
          </p:cNvSpPr>
          <p:nvPr/>
        </p:nvSpPr>
        <p:spPr>
          <a:xfrm>
            <a:off x="12071350" y="2049780"/>
            <a:ext cx="5435600" cy="7067550"/>
          </a:xfrm>
          <a:prstGeom prst="roundRect">
            <a:avLst>
              <a:gd name="adj" fmla="val 4206"/>
            </a:avLst>
          </a:prstGeom>
          <a:solidFill>
            <a:srgbClr val="EFE7D8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92BF7-2E58-4E18-BB8A-32D811CF5FE7}"/>
              </a:ext>
            </a:extLst>
          </p:cNvPr>
          <p:cNvSpPr>
            <a:spLocks noGrp="1"/>
          </p:cNvSpPr>
          <p:nvPr/>
        </p:nvSpPr>
        <p:spPr>
          <a:xfrm>
            <a:off x="12363450" y="2343150"/>
            <a:ext cx="48577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3. Train later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5C1CBF-B765-4BD5-B19D-183A821EE75D}"/>
              </a:ext>
            </a:extLst>
          </p:cNvPr>
          <p:cNvSpPr>
            <a:spLocks noGrp="1"/>
          </p:cNvSpPr>
          <p:nvPr/>
        </p:nvSpPr>
        <p:spPr>
          <a:xfrm>
            <a:off x="12363450" y="2895600"/>
            <a:ext cx="485775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6B665D"/>
                </a:solidFill>
              </a:defRPr>
            </a:pPr>
            <a:r>
              <a:rPr sz="1875" b="0" i="0">
                <a:solidFill>
                  <a:srgbClr val="6B665D"/>
                </a:solidFill>
              </a:rPr>
              <a:t>Once feedback volume is large and labelled, use anonymised approved examples for retrieval, scoring models, evaluations, and possible fine-tuning.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155D20-C481-4E03-86F2-1156432CF5A9}"/>
              </a:ext>
            </a:extLst>
          </p:cNvPr>
          <p:cNvSpPr>
            <a:spLocks noGrp="1"/>
          </p:cNvSpPr>
          <p:nvPr/>
        </p:nvSpPr>
        <p:spPr>
          <a:xfrm>
            <a:off x="781050" y="9410700"/>
            <a:ext cx="16725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2332A"/>
                </a:solidFill>
              </a:defRPr>
            </a:pPr>
            <a:r>
              <a:rPr sz="1800" b="1" i="0">
                <a:solidFill>
                  <a:srgbClr val="12332A"/>
                </a:solidFill>
              </a:rPr>
              <a:t>Training data should be consent-based, anonymised, deduplicated, labelled, and removable on request.</a:t>
            </a:r>
          </a:p>
        </p:txBody>
      </p:sp>
    </p:spTree>
    <p:extLst>
      <p:ext uri="{BB962C8B-B14F-4D97-AF65-F5344CB8AC3E}">
        <p14:creationId xmlns:p14="http://schemas.microsoft.com/office/powerpoint/2010/main" val="1754443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">
            <a:extLst>
              <a:ext uri="{FF2B5EF4-FFF2-40B4-BE49-F238E27FC236}">
                <a16:creationId xmlns:a16="http://schemas.microsoft.com/office/drawing/2014/main" id="{25A00B60-133D-4661-8274-69C0F5B93B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3DFD2B-9B5B-4529-B372-625118887717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TRUST AND GOVERNANCE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BB76DF-4BDC-47A2-948C-0C277EAD8D88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31445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Teaching must be controlled, transparent, and client-safe.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5E7DA4-9B2A-41B4-8B60-3BEE4179D721}"/>
              </a:ext>
            </a:extLst>
          </p:cNvPr>
          <p:cNvSpPr>
            <a:spLocks noGrp="1"/>
          </p:cNvSpPr>
          <p:nvPr/>
        </p:nvSpPr>
        <p:spPr>
          <a:xfrm>
            <a:off x="781050" y="2712720"/>
            <a:ext cx="8201025" cy="2194560"/>
          </a:xfrm>
          <a:prstGeom prst="roundRect">
            <a:avLst>
              <a:gd name="adj" fmla="val 7813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1EA99F-4E7A-4E00-A741-561E8DDE56B5}"/>
              </a:ext>
            </a:extLst>
          </p:cNvPr>
          <p:cNvSpPr>
            <a:spLocks noGrp="1"/>
          </p:cNvSpPr>
          <p:nvPr/>
        </p:nvSpPr>
        <p:spPr>
          <a:xfrm>
            <a:off x="1047750" y="2933700"/>
            <a:ext cx="7677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What data to keep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F6D667-5392-4F2E-A412-684E436222C8}"/>
              </a:ext>
            </a:extLst>
          </p:cNvPr>
          <p:cNvSpPr>
            <a:spLocks noGrp="1"/>
          </p:cNvSpPr>
          <p:nvPr/>
        </p:nvSpPr>
        <p:spPr>
          <a:xfrm>
            <a:off x="1047750" y="3390900"/>
            <a:ext cx="7677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Prompt, industry, page plan, selected design route, quality score, feedback, approved edits, SEO performance, and conversion outcomes.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76D83A-9884-4E90-AEB2-EEEDDC9DD6B5}"/>
              </a:ext>
            </a:extLst>
          </p:cNvPr>
          <p:cNvSpPr>
            <a:spLocks noGrp="1"/>
          </p:cNvSpPr>
          <p:nvPr/>
        </p:nvSpPr>
        <p:spPr>
          <a:xfrm>
            <a:off x="781050" y="5097780"/>
            <a:ext cx="8201025" cy="2194560"/>
          </a:xfrm>
          <a:prstGeom prst="roundRect">
            <a:avLst>
              <a:gd name="adj" fmla="val 7813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E516E9-9000-4BD6-BBE7-E3037F34881A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7677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What not to train on by default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AE9B9B-4BED-404D-8C33-4BEB51D825A3}"/>
              </a:ext>
            </a:extLst>
          </p:cNvPr>
          <p:cNvSpPr>
            <a:spLocks noGrp="1"/>
          </p:cNvSpPr>
          <p:nvPr/>
        </p:nvSpPr>
        <p:spPr>
          <a:xfrm>
            <a:off x="1047750" y="5791200"/>
            <a:ext cx="7677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Secrets, API keys, private client documents, personal data, unpublished business details, or anything without consent.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C7C462-A1F7-40D0-8757-545ED2B9BFB7}"/>
              </a:ext>
            </a:extLst>
          </p:cNvPr>
          <p:cNvSpPr>
            <a:spLocks noGrp="1"/>
          </p:cNvSpPr>
          <p:nvPr/>
        </p:nvSpPr>
        <p:spPr>
          <a:xfrm>
            <a:off x="781050" y="7482840"/>
            <a:ext cx="8201025" cy="2194560"/>
          </a:xfrm>
          <a:prstGeom prst="roundRect">
            <a:avLst>
              <a:gd name="adj" fmla="val 7813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A2C24F-001B-4C62-8277-00F004443A7E}"/>
              </a:ext>
            </a:extLst>
          </p:cNvPr>
          <p:cNvSpPr>
            <a:spLocks noGrp="1"/>
          </p:cNvSpPr>
          <p:nvPr/>
        </p:nvSpPr>
        <p:spPr>
          <a:xfrm>
            <a:off x="1047750" y="7715250"/>
            <a:ext cx="7677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Admin controls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9E1CE7-ADF7-4081-82FC-3299C33A4D52}"/>
              </a:ext>
            </a:extLst>
          </p:cNvPr>
          <p:cNvSpPr>
            <a:spLocks noGrp="1"/>
          </p:cNvSpPr>
          <p:nvPr/>
        </p:nvSpPr>
        <p:spPr>
          <a:xfrm>
            <a:off x="1047750" y="8172450"/>
            <a:ext cx="7677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Opt-in learning, delete feedback, inspect rules, disable a rule, export reports, and separate global vs industry learning.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B9D0EB-C5EE-4AC4-8477-18D5F187BD8A}"/>
              </a:ext>
            </a:extLst>
          </p:cNvPr>
          <p:cNvSpPr>
            <a:spLocks noGrp="1"/>
          </p:cNvSpPr>
          <p:nvPr/>
        </p:nvSpPr>
        <p:spPr>
          <a:xfrm>
            <a:off x="9305925" y="2712720"/>
            <a:ext cx="8201025" cy="6964680"/>
          </a:xfrm>
          <a:prstGeom prst="roundRect">
            <a:avLst>
              <a:gd name="adj" fmla="val 3829"/>
            </a:avLst>
          </a:prstGeom>
          <a:solidFill>
            <a:srgbClr val="0D201B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1D94C2-2453-40D6-A4A8-9AC4387B5A94}"/>
              </a:ext>
            </a:extLst>
          </p:cNvPr>
          <p:cNvSpPr>
            <a:spLocks noGrp="1"/>
          </p:cNvSpPr>
          <p:nvPr/>
        </p:nvSpPr>
        <p:spPr>
          <a:xfrm>
            <a:off x="9677400" y="3048000"/>
            <a:ext cx="7486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FFFDF8"/>
                </a:solidFill>
              </a:defRPr>
            </a:pPr>
            <a:r>
              <a:rPr sz="2850" b="1" i="0">
                <a:solidFill>
                  <a:srgbClr val="FFFDF8"/>
                </a:solidFill>
              </a:rPr>
              <a:t>Future training pipeline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E89A1E2-FB01-4E76-9563-74145BF62EE2}"/>
              </a:ext>
            </a:extLst>
          </p:cNvPr>
          <p:cNvSpPr>
            <a:spLocks noGrp="1"/>
          </p:cNvSpPr>
          <p:nvPr/>
        </p:nvSpPr>
        <p:spPr>
          <a:xfrm>
            <a:off x="9667875" y="371856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B37B34-62E9-48C9-B7B9-117FD4B8C458}"/>
              </a:ext>
            </a:extLst>
          </p:cNvPr>
          <p:cNvSpPr>
            <a:spLocks noGrp="1"/>
          </p:cNvSpPr>
          <p:nvPr/>
        </p:nvSpPr>
        <p:spPr>
          <a:xfrm>
            <a:off x="9677400" y="37147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471D61-CDF6-4116-8ABC-D1D8D554C33E}"/>
              </a:ext>
            </a:extLst>
          </p:cNvPr>
          <p:cNvSpPr>
            <a:spLocks noGrp="1"/>
          </p:cNvSpPr>
          <p:nvPr/>
        </p:nvSpPr>
        <p:spPr>
          <a:xfrm>
            <a:off x="10134600" y="3714750"/>
            <a:ext cx="7029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DDE7E2"/>
                </a:solidFill>
              </a:defRPr>
            </a:pPr>
            <a:r>
              <a:rPr sz="1800" b="0" i="0">
                <a:solidFill>
                  <a:srgbClr val="DDE7E2"/>
                </a:solidFill>
              </a:rPr>
              <a:t>Collect structured feedback and editor actions.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B495EC-2593-4DA1-B1BE-702D88D2C9B1}"/>
              </a:ext>
            </a:extLst>
          </p:cNvPr>
          <p:cNvSpPr>
            <a:spLocks noGrp="1"/>
          </p:cNvSpPr>
          <p:nvPr/>
        </p:nvSpPr>
        <p:spPr>
          <a:xfrm>
            <a:off x="9667875" y="417576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A27417-D3BE-4AB9-81AC-19195E38048D}"/>
              </a:ext>
            </a:extLst>
          </p:cNvPr>
          <p:cNvSpPr>
            <a:spLocks noGrp="1"/>
          </p:cNvSpPr>
          <p:nvPr/>
        </p:nvSpPr>
        <p:spPr>
          <a:xfrm>
            <a:off x="9677400" y="41719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A5D2B8-C619-4F57-B0DF-ACD82673D688}"/>
              </a:ext>
            </a:extLst>
          </p:cNvPr>
          <p:cNvSpPr>
            <a:spLocks noGrp="1"/>
          </p:cNvSpPr>
          <p:nvPr/>
        </p:nvSpPr>
        <p:spPr>
          <a:xfrm>
            <a:off x="10134600" y="4171950"/>
            <a:ext cx="7029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DDE7E2"/>
                </a:solidFill>
              </a:defRPr>
            </a:pPr>
            <a:r>
              <a:rPr sz="1800" b="0" i="0">
                <a:solidFill>
                  <a:srgbClr val="DDE7E2"/>
                </a:solidFill>
              </a:rPr>
              <a:t>Anonymise and label examples as good, bad, or needs revision.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B4A1A1-38CF-4D17-BDE4-118303A782EF}"/>
              </a:ext>
            </a:extLst>
          </p:cNvPr>
          <p:cNvSpPr>
            <a:spLocks noGrp="1"/>
          </p:cNvSpPr>
          <p:nvPr/>
        </p:nvSpPr>
        <p:spPr>
          <a:xfrm>
            <a:off x="9667875" y="463296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8CB3F0-A39E-4D2E-A0C6-AEA9239C3F45}"/>
              </a:ext>
            </a:extLst>
          </p:cNvPr>
          <p:cNvSpPr>
            <a:spLocks noGrp="1"/>
          </p:cNvSpPr>
          <p:nvPr/>
        </p:nvSpPr>
        <p:spPr>
          <a:xfrm>
            <a:off x="9677400" y="46291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8009B-6B47-43A1-9952-0DC2E9710CC2}"/>
              </a:ext>
            </a:extLst>
          </p:cNvPr>
          <p:cNvSpPr>
            <a:spLocks noGrp="1"/>
          </p:cNvSpPr>
          <p:nvPr/>
        </p:nvSpPr>
        <p:spPr>
          <a:xfrm>
            <a:off x="10134600" y="4629150"/>
            <a:ext cx="7029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DDE7E2"/>
                </a:solidFill>
              </a:defRPr>
            </a:pPr>
            <a:r>
              <a:rPr sz="1800" b="0" i="0">
                <a:solidFill>
                  <a:srgbClr val="DDE7E2"/>
                </a:solidFill>
              </a:rPr>
              <a:t>Use retrieval memory for similar future projects.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BA6BF6A-136D-4DBA-B9C8-57D1B4819C38}"/>
              </a:ext>
            </a:extLst>
          </p:cNvPr>
          <p:cNvSpPr>
            <a:spLocks noGrp="1"/>
          </p:cNvSpPr>
          <p:nvPr/>
        </p:nvSpPr>
        <p:spPr>
          <a:xfrm>
            <a:off x="9667875" y="509016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332A"/>
          </a:solidFill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33800F-E69E-44F1-8DAA-C5B80813911B}"/>
              </a:ext>
            </a:extLst>
          </p:cNvPr>
          <p:cNvSpPr>
            <a:spLocks noGrp="1"/>
          </p:cNvSpPr>
          <p:nvPr/>
        </p:nvSpPr>
        <p:spPr>
          <a:xfrm>
            <a:off x="9677400" y="50863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72C63D-32A1-4C51-9E68-5FE4A04BB509}"/>
              </a:ext>
            </a:extLst>
          </p:cNvPr>
          <p:cNvSpPr>
            <a:spLocks noGrp="1"/>
          </p:cNvSpPr>
          <p:nvPr/>
        </p:nvSpPr>
        <p:spPr>
          <a:xfrm>
            <a:off x="10134600" y="5086350"/>
            <a:ext cx="7029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DDE7E2"/>
                </a:solidFill>
              </a:defRPr>
            </a:pPr>
            <a:r>
              <a:rPr sz="1800" b="0" i="0">
                <a:solidFill>
                  <a:srgbClr val="DDE7E2"/>
                </a:solidFill>
              </a:rPr>
              <a:t>Run evaluation tests before promoting new rules.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C8E793B-60EB-4B93-8785-2FFF4A2C3BAB}"/>
              </a:ext>
            </a:extLst>
          </p:cNvPr>
          <p:cNvSpPr>
            <a:spLocks noGrp="1"/>
          </p:cNvSpPr>
          <p:nvPr/>
        </p:nvSpPr>
        <p:spPr>
          <a:xfrm>
            <a:off x="9667875" y="554736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91D042-2E80-4264-8419-50FC9782103A}"/>
              </a:ext>
            </a:extLst>
          </p:cNvPr>
          <p:cNvSpPr>
            <a:spLocks noGrp="1"/>
          </p:cNvSpPr>
          <p:nvPr/>
        </p:nvSpPr>
        <p:spPr>
          <a:xfrm>
            <a:off x="9677400" y="554355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3C7525-4B0C-4B53-B151-DB4985109ACA}"/>
              </a:ext>
            </a:extLst>
          </p:cNvPr>
          <p:cNvSpPr>
            <a:spLocks noGrp="1"/>
          </p:cNvSpPr>
          <p:nvPr/>
        </p:nvSpPr>
        <p:spPr>
          <a:xfrm>
            <a:off x="10134600" y="5543550"/>
            <a:ext cx="7029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DDE7E2"/>
                </a:solidFill>
              </a:defRPr>
            </a:pPr>
            <a:r>
              <a:rPr sz="1800" b="0" i="0">
                <a:solidFill>
                  <a:srgbClr val="DDE7E2"/>
                </a:solidFill>
              </a:rPr>
              <a:t>Fine-tune or train helper models only when enough clean data exists.</a:t>
            </a:r>
          </a:p>
        </p:txBody>
      </p:sp>
    </p:spTree>
    <p:extLst>
      <p:ext uri="{BB962C8B-B14F-4D97-AF65-F5344CB8AC3E}">
        <p14:creationId xmlns:p14="http://schemas.microsoft.com/office/powerpoint/2010/main" val="394189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">
            <a:extLst>
              <a:ext uri="{FF2B5EF4-FFF2-40B4-BE49-F238E27FC236}">
                <a16:creationId xmlns:a16="http://schemas.microsoft.com/office/drawing/2014/main" id="{A80F1051-5866-4C4A-B116-3595AF1D17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4EE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20F958-652E-4074-B71A-9C416245CD32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B8860B"/>
                </a:solidFill>
              </a:defRPr>
            </a:pPr>
            <a:r>
              <a:rPr sz="1350" b="1" i="0">
                <a:solidFill>
                  <a:srgbClr val="B8860B"/>
                </a:solidFill>
              </a:rPr>
              <a:t>ROADMAP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3CB30A-2AAA-4628-B4C3-C72CA35E7955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1715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Path to a truly premium website production engine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130025-9B57-4E07-A573-8AC291D58AB3}"/>
              </a:ext>
            </a:extLst>
          </p:cNvPr>
          <p:cNvSpPr>
            <a:spLocks noGrp="1"/>
          </p:cNvSpPr>
          <p:nvPr/>
        </p:nvSpPr>
        <p:spPr>
          <a:xfrm>
            <a:off x="781050" y="2049780"/>
            <a:ext cx="4038600" cy="6541770"/>
          </a:xfrm>
          <a:prstGeom prst="roundRect">
            <a:avLst>
              <a:gd name="adj" fmla="val 4245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4177D0-9AD4-46C5-A7D2-F85ED224A45B}"/>
              </a:ext>
            </a:extLst>
          </p:cNvPr>
          <p:cNvSpPr>
            <a:spLocks noGrp="1"/>
          </p:cNvSpPr>
          <p:nvPr/>
        </p:nvSpPr>
        <p:spPr>
          <a:xfrm>
            <a:off x="1047750" y="2286000"/>
            <a:ext cx="3505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Phase 1: Stabilise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D3769F-0A63-4CBC-9091-DEA9FBAFED88}"/>
              </a:ext>
            </a:extLst>
          </p:cNvPr>
          <p:cNvSpPr>
            <a:spLocks noGrp="1"/>
          </p:cNvSpPr>
          <p:nvPr/>
        </p:nvSpPr>
        <p:spPr>
          <a:xfrm>
            <a:off x="1047750" y="2743200"/>
            <a:ext cx="35052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Improve generated layout diversity, heading spacing, logo logic, footer variants, image placement, and Reality Check coverage.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4910FF-C88A-4265-A329-11C46C4A116F}"/>
              </a:ext>
            </a:extLst>
          </p:cNvPr>
          <p:cNvSpPr>
            <a:spLocks noGrp="1"/>
          </p:cNvSpPr>
          <p:nvPr/>
        </p:nvSpPr>
        <p:spPr>
          <a:xfrm>
            <a:off x="5010150" y="2049780"/>
            <a:ext cx="4038600" cy="6541770"/>
          </a:xfrm>
          <a:prstGeom prst="roundRect">
            <a:avLst>
              <a:gd name="adj" fmla="val 4245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21680-9AEB-4183-B87A-69CD04B3BF19}"/>
              </a:ext>
            </a:extLst>
          </p:cNvPr>
          <p:cNvSpPr>
            <a:spLocks noGrp="1"/>
          </p:cNvSpPr>
          <p:nvPr/>
        </p:nvSpPr>
        <p:spPr>
          <a:xfrm>
            <a:off x="5276850" y="2286000"/>
            <a:ext cx="3505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Phase 2: Editor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978F2B-DC3E-4A49-94B3-F678FDFBEC48}"/>
              </a:ext>
            </a:extLst>
          </p:cNvPr>
          <p:cNvSpPr>
            <a:spLocks noGrp="1"/>
          </p:cNvSpPr>
          <p:nvPr/>
        </p:nvSpPr>
        <p:spPr>
          <a:xfrm>
            <a:off x="5276850" y="2743200"/>
            <a:ext cx="35052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Upgrade visual editor into a stronger canvas for sections, typography, logos, images, spacing, animation, and mobile previews.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536C88-F925-44DD-BB4E-B085F26A343F}"/>
              </a:ext>
            </a:extLst>
          </p:cNvPr>
          <p:cNvSpPr>
            <a:spLocks noGrp="1"/>
          </p:cNvSpPr>
          <p:nvPr/>
        </p:nvSpPr>
        <p:spPr>
          <a:xfrm>
            <a:off x="9239250" y="2049780"/>
            <a:ext cx="4038600" cy="6541770"/>
          </a:xfrm>
          <a:prstGeom prst="roundRect">
            <a:avLst>
              <a:gd name="adj" fmla="val 4245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FCE67C-823E-4C49-A1FF-B9890D425153}"/>
              </a:ext>
            </a:extLst>
          </p:cNvPr>
          <p:cNvSpPr>
            <a:spLocks noGrp="1"/>
          </p:cNvSpPr>
          <p:nvPr/>
        </p:nvSpPr>
        <p:spPr>
          <a:xfrm>
            <a:off x="9505950" y="2286000"/>
            <a:ext cx="3505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Phase 3: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3307C7-090B-48DF-805B-351888721C73}"/>
              </a:ext>
            </a:extLst>
          </p:cNvPr>
          <p:cNvSpPr>
            <a:spLocks noGrp="1"/>
          </p:cNvSpPr>
          <p:nvPr/>
        </p:nvSpPr>
        <p:spPr>
          <a:xfrm>
            <a:off x="9505950" y="2743200"/>
            <a:ext cx="35052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Add conversion analytics, feedback labels, reusable industry playbooks, vector memory, and admin rule controls.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C6BD9A-32C2-4745-88A2-1BE6BE537FF0}"/>
              </a:ext>
            </a:extLst>
          </p:cNvPr>
          <p:cNvSpPr>
            <a:spLocks noGrp="1"/>
          </p:cNvSpPr>
          <p:nvPr/>
        </p:nvSpPr>
        <p:spPr>
          <a:xfrm>
            <a:off x="13468350" y="2049780"/>
            <a:ext cx="4038600" cy="6541770"/>
          </a:xfrm>
          <a:prstGeom prst="roundRect">
            <a:avLst>
              <a:gd name="adj" fmla="val 4245"/>
            </a:avLst>
          </a:prstGeom>
          <a:solidFill>
            <a:srgbClr val="FFFDF8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501CCB-76AE-40E3-BF74-3F881DDEDA2B}"/>
              </a:ext>
            </a:extLst>
          </p:cNvPr>
          <p:cNvSpPr>
            <a:spLocks noGrp="1"/>
          </p:cNvSpPr>
          <p:nvPr/>
        </p:nvSpPr>
        <p:spPr>
          <a:xfrm>
            <a:off x="13735050" y="2286000"/>
            <a:ext cx="3505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Phase 4: Scale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9F97B4-9C5F-4ABE-88CA-005A35EBA9FD}"/>
              </a:ext>
            </a:extLst>
          </p:cNvPr>
          <p:cNvSpPr>
            <a:spLocks noGrp="1"/>
          </p:cNvSpPr>
          <p:nvPr/>
        </p:nvSpPr>
        <p:spPr>
          <a:xfrm>
            <a:off x="13735050" y="2743200"/>
            <a:ext cx="35052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6B665D"/>
                </a:solidFill>
              </a:defRPr>
            </a:pPr>
            <a:r>
              <a:rPr sz="1650" b="0" i="0">
                <a:solidFill>
                  <a:srgbClr val="6B665D"/>
                </a:solidFill>
              </a:rPr>
              <a:t>Provider deployments, registrar/domain integrations, automated Lighthouse runs, stronger CMS security, and custom model training pipeline.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356659-3A27-47F8-9438-DE8640123E71}"/>
              </a:ext>
            </a:extLst>
          </p:cNvPr>
          <p:cNvSpPr>
            <a:spLocks noGrp="1"/>
          </p:cNvSpPr>
          <p:nvPr/>
        </p:nvSpPr>
        <p:spPr>
          <a:xfrm>
            <a:off x="781050" y="8877300"/>
            <a:ext cx="16725900" cy="800100"/>
          </a:xfrm>
          <a:prstGeom prst="roundRect">
            <a:avLst>
              <a:gd name="adj" fmla="val 26190"/>
            </a:avLst>
          </a:prstGeom>
          <a:solidFill>
            <a:srgbClr val="111111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6407E6-DD41-4A31-81CD-A0E17925A8E1}"/>
              </a:ext>
            </a:extLst>
          </p:cNvPr>
          <p:cNvSpPr>
            <a:spLocks noGrp="1"/>
          </p:cNvSpPr>
          <p:nvPr/>
        </p:nvSpPr>
        <p:spPr>
          <a:xfrm>
            <a:off x="1104900" y="9105900"/>
            <a:ext cx="16078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The ambition: not another website generator, but a guided, inspectable, self-improving web design system.</a:t>
            </a:r>
          </a:p>
        </p:txBody>
      </p:sp>
    </p:spTree>
    <p:extLst>
      <p:ext uri="{BB962C8B-B14F-4D97-AF65-F5344CB8AC3E}">
        <p14:creationId xmlns:p14="http://schemas.microsoft.com/office/powerpoint/2010/main" val="660688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">
            <a:extLst>
              <a:ext uri="{FF2B5EF4-FFF2-40B4-BE49-F238E27FC236}">
                <a16:creationId xmlns:a16="http://schemas.microsoft.com/office/drawing/2014/main" id="{83EB608A-D665-4EE3-9C2C-D4371213F8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201B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3D157A-C3A9-4293-B317-1FF0097CDBB3}"/>
              </a:ext>
            </a:extLst>
          </p:cNvPr>
          <p:cNvSpPr>
            <a:spLocks noGrp="1"/>
          </p:cNvSpPr>
          <p:nvPr/>
        </p:nvSpPr>
        <p:spPr>
          <a:xfrm>
            <a:off x="781050" y="609600"/>
            <a:ext cx="1672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D6B66A"/>
                </a:solidFill>
              </a:defRPr>
            </a:pPr>
            <a:r>
              <a:rPr sz="1350" b="1" i="0">
                <a:solidFill>
                  <a:srgbClr val="D6B66A"/>
                </a:solidFill>
              </a:rPr>
              <a:t>WHY IT CAN WIN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B44C7E-0AAB-41B2-96AB-19EBDB9B3BA0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373505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FFFDF8"/>
                </a:solidFill>
              </a:defRPr>
            </a:pPr>
            <a:r>
              <a:rPr sz="4650" b="1" i="0">
                <a:solidFill>
                  <a:srgbClr val="FFFDF8"/>
                </a:solidFill>
              </a:rPr>
              <a:t>The strongest product story is not AI builds a site. It is AI gets better at building the right site for this business.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C85B47-4574-4DFB-A391-2B55F6A2C6EE}"/>
              </a:ext>
            </a:extLst>
          </p:cNvPr>
          <p:cNvSpPr>
            <a:spLocks noGrp="1"/>
          </p:cNvSpPr>
          <p:nvPr/>
        </p:nvSpPr>
        <p:spPr>
          <a:xfrm>
            <a:off x="781050" y="2804160"/>
            <a:ext cx="5422900" cy="6267450"/>
          </a:xfrm>
          <a:prstGeom prst="roundRect">
            <a:avLst>
              <a:gd name="adj" fmla="val 3162"/>
            </a:avLst>
          </a:prstGeom>
          <a:solidFill>
            <a:srgbClr val="183E34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6A62C-5EDA-4036-A94C-051465D73830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Business value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9D8C58-9843-4112-A8F8-A9DC533F30DF}"/>
              </a:ext>
            </a:extLst>
          </p:cNvPr>
          <p:cNvSpPr>
            <a:spLocks noGrp="1"/>
          </p:cNvSpPr>
          <p:nvPr/>
        </p:nvSpPr>
        <p:spPr>
          <a:xfrm>
            <a:off x="1047750" y="3486150"/>
            <a:ext cx="48958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Faster delivery, more complete packages, lower manual production time, and stronger SEO/deployment readiness.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44BBBF-5027-42AE-8532-3D43DF703976}"/>
              </a:ext>
            </a:extLst>
          </p:cNvPr>
          <p:cNvSpPr>
            <a:spLocks noGrp="1"/>
          </p:cNvSpPr>
          <p:nvPr/>
        </p:nvSpPr>
        <p:spPr>
          <a:xfrm>
            <a:off x="6432550" y="2804160"/>
            <a:ext cx="5422900" cy="6267450"/>
          </a:xfrm>
          <a:prstGeom prst="roundRect">
            <a:avLst>
              <a:gd name="adj" fmla="val 3162"/>
            </a:avLst>
          </a:prstGeom>
          <a:solidFill>
            <a:srgbClr val="183E34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719EF5-1EE9-4188-A7AC-49CA39D9C1D2}"/>
              </a:ext>
            </a:extLst>
          </p:cNvPr>
          <p:cNvSpPr>
            <a:spLocks noGrp="1"/>
          </p:cNvSpPr>
          <p:nvPr/>
        </p:nvSpPr>
        <p:spPr>
          <a:xfrm>
            <a:off x="6705600" y="302895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Product moat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2DFB7B-D922-4755-9CAD-BC57354F8F7A}"/>
              </a:ext>
            </a:extLst>
          </p:cNvPr>
          <p:cNvSpPr>
            <a:spLocks noGrp="1"/>
          </p:cNvSpPr>
          <p:nvPr/>
        </p:nvSpPr>
        <p:spPr>
          <a:xfrm>
            <a:off x="6705600" y="3486150"/>
            <a:ext cx="48958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Guided brief, page strategy, visual editor, Reality Check Agent, feedback memory, and industry-specific playbooks.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23F638-6C51-4995-A032-8ED05BC436A4}"/>
              </a:ext>
            </a:extLst>
          </p:cNvPr>
          <p:cNvSpPr>
            <a:spLocks noGrp="1"/>
          </p:cNvSpPr>
          <p:nvPr/>
        </p:nvSpPr>
        <p:spPr>
          <a:xfrm>
            <a:off x="12084050" y="2804160"/>
            <a:ext cx="5422900" cy="6267450"/>
          </a:xfrm>
          <a:prstGeom prst="roundRect">
            <a:avLst>
              <a:gd name="adj" fmla="val 3162"/>
            </a:avLst>
          </a:prstGeom>
          <a:solidFill>
            <a:srgbClr val="183E34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166C5-F25F-4BE3-B868-7014C3EEFA42}"/>
              </a:ext>
            </a:extLst>
          </p:cNvPr>
          <p:cNvSpPr>
            <a:spLocks noGrp="1"/>
          </p:cNvSpPr>
          <p:nvPr/>
        </p:nvSpPr>
        <p:spPr>
          <a:xfrm>
            <a:off x="12344400" y="302895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DF8"/>
                </a:solidFill>
              </a:defRPr>
            </a:pPr>
            <a:r>
              <a:rPr sz="2250" b="1" i="0">
                <a:solidFill>
                  <a:srgbClr val="FFFDF8"/>
                </a:solidFill>
              </a:rPr>
              <a:t>Client confidence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383334-058F-45C3-8D81-4AAABBBBC8F9}"/>
              </a:ext>
            </a:extLst>
          </p:cNvPr>
          <p:cNvSpPr>
            <a:spLocks noGrp="1"/>
          </p:cNvSpPr>
          <p:nvPr/>
        </p:nvSpPr>
        <p:spPr>
          <a:xfrm>
            <a:off x="12344400" y="3486150"/>
            <a:ext cx="48958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C9D4CE"/>
                </a:solidFill>
              </a:defRPr>
            </a:pPr>
            <a:r>
              <a:rPr sz="1650" b="0" i="0">
                <a:solidFill>
                  <a:srgbClr val="C9D4CE"/>
                </a:solidFill>
              </a:rPr>
              <a:t>The system can explain what it created, where it is limited, what was checked, and how feedback improves the next result.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335272-5366-423E-B725-5FEC805E1FF6}"/>
              </a:ext>
            </a:extLst>
          </p:cNvPr>
          <p:cNvSpPr>
            <a:spLocks noGrp="1"/>
          </p:cNvSpPr>
          <p:nvPr/>
        </p:nvSpPr>
        <p:spPr>
          <a:xfrm>
            <a:off x="781050" y="9353550"/>
            <a:ext cx="167259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6E7BA"/>
                </a:solidFill>
              </a:defRPr>
            </a:pPr>
            <a:r>
              <a:rPr sz="2100" b="1" i="0">
                <a:solidFill>
                  <a:srgbClr val="F6E7BA"/>
                </a:solidFill>
              </a:rPr>
              <a:t>Next move: turn feedback into measurable quality improvements and make every generation feel intentionally designed.</a:t>
            </a:r>
          </a:p>
        </p:txBody>
      </p:sp>
    </p:spTree>
    <p:extLst>
      <p:ext uri="{BB962C8B-B14F-4D97-AF65-F5344CB8AC3E}">
        <p14:creationId xmlns:p14="http://schemas.microsoft.com/office/powerpoint/2010/main" val="12275683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1745</Words>
  <Application>Microsoft Office PowerPoint</Application>
  <DocSecurity>0</DocSecurity>
  <PresentationFormat>Custom</PresentationFormat>
  <Paragraphs>180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Fahad Ali</cp:lastModifiedBy>
  <cp:revision>1</cp:revision>
  <dcterms:created xsi:type="dcterms:W3CDTF">2026-05-12T21:03:06Z</dcterms:created>
  <dcterms:modified xsi:type="dcterms:W3CDTF">2026-05-12T21:08:58Z</dcterms:modified>
</cp:coreProperties>
</file>